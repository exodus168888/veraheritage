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c464a048e4fcc" /><Relationship Type="http://schemas.openxmlformats.org/officeDocument/2006/relationships/extended-properties" Target="/docProps/app.xml" Id="R6ddaa7b330304229" /><Relationship Type="http://schemas.openxmlformats.org/officeDocument/2006/relationships/officeDocument" Target="/ppt/presentation.xml" Id="Rd5377a0ad76d4c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30cf172814205"/>
  </p:sldMasterIdLst>
  <p:notesMasterIdLst>
    <p:notesMasterId xmlns:r="http://schemas.openxmlformats.org/officeDocument/2006/relationships" r:id="R186c309466304afe"/>
  </p:notesMasterIdLst>
  <p:sldIdLst>
    <p:sldId xmlns:r="http://schemas.openxmlformats.org/officeDocument/2006/relationships" id="256" r:id="R3c97cf35dac94661"/>
    <p:sldId xmlns:r="http://schemas.openxmlformats.org/officeDocument/2006/relationships" id="257" r:id="Reb4953fe4c244ece"/>
    <p:sldId xmlns:r="http://schemas.openxmlformats.org/officeDocument/2006/relationships" id="258" r:id="R7c52b3a42f704c24"/>
    <p:sldId xmlns:r="http://schemas.openxmlformats.org/officeDocument/2006/relationships" id="259" r:id="R19f1979c306c48e1"/>
    <p:sldId xmlns:r="http://schemas.openxmlformats.org/officeDocument/2006/relationships" id="260" r:id="R117257244aab46e0"/>
    <p:sldId xmlns:r="http://schemas.openxmlformats.org/officeDocument/2006/relationships" id="261" r:id="R417df09f2b8e4309"/>
    <p:sldId xmlns:r="http://schemas.openxmlformats.org/officeDocument/2006/relationships" id="262" r:id="R23680195531e4703"/>
    <p:sldId xmlns:r="http://schemas.openxmlformats.org/officeDocument/2006/relationships" id="263" r:id="Rc047ab7d83fe4a76"/>
    <p:sldId xmlns:r="http://schemas.openxmlformats.org/officeDocument/2006/relationships" id="264" r:id="R372d779de17e4e92"/>
    <p:sldId xmlns:r="http://schemas.openxmlformats.org/officeDocument/2006/relationships" id="265" r:id="Rba3c7bfc50994f37"/>
    <p:sldId xmlns:r="http://schemas.openxmlformats.org/officeDocument/2006/relationships" id="266" r:id="R9370b5914e654a75"/>
    <p:sldId xmlns:r="http://schemas.openxmlformats.org/officeDocument/2006/relationships" id="267" r:id="R382cc449a39d4e29"/>
    <p:sldId xmlns:r="http://schemas.openxmlformats.org/officeDocument/2006/relationships" id="268" r:id="Ree0e16bc50b64983"/>
    <p:sldId xmlns:r="http://schemas.openxmlformats.org/officeDocument/2006/relationships" id="269" r:id="R87e804ec1f26457a"/>
    <p:sldId xmlns:r="http://schemas.openxmlformats.org/officeDocument/2006/relationships" id="270" r:id="R66c381b22d9c4976"/>
    <p:sldId xmlns:r="http://schemas.openxmlformats.org/officeDocument/2006/relationships" id="271" r:id="Rd9165c4b3df449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30cf172814205" /><Relationship Type="http://schemas.openxmlformats.org/officeDocument/2006/relationships/theme" Target="/ppt/theme/theme1.xml" Id="R0a9484da16064adc" /><Relationship Type="http://schemas.openxmlformats.org/officeDocument/2006/relationships/notesMaster" Target="/ppt/notesMasters/notesMaster1.xml" Id="R186c309466304afe" /><Relationship Type="http://schemas.openxmlformats.org/officeDocument/2006/relationships/presProps" Target="/ppt/presProps.xml" Id="Re1bdfee8e1f64aac" /><Relationship Type="http://schemas.openxmlformats.org/officeDocument/2006/relationships/viewProps" Target="/ppt/viewProps.xml" Id="R66120e80e3a74721" /><Relationship Type="http://schemas.openxmlformats.org/officeDocument/2006/relationships/tableStyles" Target="/ppt/tableStyles.xml" Id="Re7ca893385af4c07" /><Relationship Type="http://schemas.openxmlformats.org/officeDocument/2006/relationships/slide" Target="/ppt/slides/slide1.xml" Id="R3c97cf35dac94661" /><Relationship Type="http://schemas.openxmlformats.org/officeDocument/2006/relationships/slide" Target="/ppt/slides/slide2.xml" Id="Reb4953fe4c244ece" /><Relationship Type="http://schemas.openxmlformats.org/officeDocument/2006/relationships/slide" Target="/ppt/slides/slide3.xml" Id="R7c52b3a42f704c24" /><Relationship Type="http://schemas.openxmlformats.org/officeDocument/2006/relationships/slide" Target="/ppt/slides/slide4.xml" Id="R19f1979c306c48e1" /><Relationship Type="http://schemas.openxmlformats.org/officeDocument/2006/relationships/slide" Target="/ppt/slides/slide5.xml" Id="R117257244aab46e0" /><Relationship Type="http://schemas.openxmlformats.org/officeDocument/2006/relationships/slide" Target="/ppt/slides/slide6.xml" Id="R417df09f2b8e4309" /><Relationship Type="http://schemas.openxmlformats.org/officeDocument/2006/relationships/slide" Target="/ppt/slides/slide7.xml" Id="R23680195531e4703" /><Relationship Type="http://schemas.openxmlformats.org/officeDocument/2006/relationships/slide" Target="/ppt/slides/slide8.xml" Id="Rc047ab7d83fe4a76" /><Relationship Type="http://schemas.openxmlformats.org/officeDocument/2006/relationships/slide" Target="/ppt/slides/slide9.xml" Id="R372d779de17e4e92" /><Relationship Type="http://schemas.openxmlformats.org/officeDocument/2006/relationships/slide" Target="/ppt/slides/slide10.xml" Id="Rba3c7bfc50994f37" /><Relationship Type="http://schemas.openxmlformats.org/officeDocument/2006/relationships/slide" Target="/ppt/slides/slide11.xml" Id="R9370b5914e654a75" /><Relationship Type="http://schemas.openxmlformats.org/officeDocument/2006/relationships/slide" Target="/ppt/slides/slide12.xml" Id="R382cc449a39d4e29" /><Relationship Type="http://schemas.openxmlformats.org/officeDocument/2006/relationships/slide" Target="/ppt/slides/slide13.xml" Id="Ree0e16bc50b64983" /><Relationship Type="http://schemas.openxmlformats.org/officeDocument/2006/relationships/slide" Target="/ppt/slides/slide14.xml" Id="R87e804ec1f26457a" /><Relationship Type="http://schemas.openxmlformats.org/officeDocument/2006/relationships/slide" Target="/ppt/slides/slide15.xml" Id="R66c381b22d9c4976" /><Relationship Type="http://schemas.openxmlformats.org/officeDocument/2006/relationships/slide" Target="/ppt/slides/slide16.xml" Id="Rd9165c4b3df4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62b91a9993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69e42e975249d4" /><Relationship Type="http://schemas.openxmlformats.org/officeDocument/2006/relationships/notesMaster" Target="/ppt/notesMasters/notesMaster1.xml" Id="Rea8c86483d67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a63987a604575" /><Relationship Type="http://schemas.openxmlformats.org/officeDocument/2006/relationships/notesMaster" Target="/ppt/notesMasters/notesMaster1.xml" Id="R2cf1682d7dae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522331b5481d" /><Relationship Type="http://schemas.openxmlformats.org/officeDocument/2006/relationships/notesMaster" Target="/ppt/notesMasters/notesMaster1.xml" Id="R4ec82b311a8b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b84a165f2c49d9" /><Relationship Type="http://schemas.openxmlformats.org/officeDocument/2006/relationships/notesMaster" Target="/ppt/notesMasters/notesMaster1.xml" Id="Ra42066bfe1fa4c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17752a59840d2" /><Relationship Type="http://schemas.openxmlformats.org/officeDocument/2006/relationships/notesMaster" Target="/ppt/notesMasters/notesMaster1.xml" Id="Rd91b98035349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7ab8153e04c58" /><Relationship Type="http://schemas.openxmlformats.org/officeDocument/2006/relationships/notesMaster" Target="/ppt/notesMasters/notesMaster1.xml" Id="Rbb172f790c994c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b6484499ff4e06" /><Relationship Type="http://schemas.openxmlformats.org/officeDocument/2006/relationships/notesMaster" Target="/ppt/notesMasters/notesMaster1.xml" Id="Rc45022e39ba540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6bee5604ff4878" /><Relationship Type="http://schemas.openxmlformats.org/officeDocument/2006/relationships/notesMaster" Target="/ppt/notesMasters/notesMaster1.xml" Id="R331a0a644d6449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d243d89ba6445c" /><Relationship Type="http://schemas.openxmlformats.org/officeDocument/2006/relationships/notesMaster" Target="/ppt/notesMasters/notesMaster1.xml" Id="R7198ce9b82a2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43960e7084cc6" /><Relationship Type="http://schemas.openxmlformats.org/officeDocument/2006/relationships/notesMaster" Target="/ppt/notesMasters/notesMaster1.xml" Id="R9ced68e5e23c47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f923c09aad408f" /><Relationship Type="http://schemas.openxmlformats.org/officeDocument/2006/relationships/notesMaster" Target="/ppt/notesMasters/notesMaster1.xml" Id="R96e06d00edfc40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a14d9d4dd24f85" /><Relationship Type="http://schemas.openxmlformats.org/officeDocument/2006/relationships/notesMaster" Target="/ppt/notesMasters/notesMaster1.xml" Id="R6f007716994b4f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5057d073c04cdb" /><Relationship Type="http://schemas.openxmlformats.org/officeDocument/2006/relationships/notesMaster" Target="/ppt/notesMasters/notesMaster1.xml" Id="R8b0e8866e9e14a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6c4185648b44c8" /><Relationship Type="http://schemas.openxmlformats.org/officeDocument/2006/relationships/notesMaster" Target="/ppt/notesMasters/notesMaster1.xml" Id="Rc8a88901da3741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524c8d7c0741d8" /><Relationship Type="http://schemas.openxmlformats.org/officeDocument/2006/relationships/notesMaster" Target="/ppt/notesMasters/notesMaster1.xml" Id="R0170756ad74a48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e4687de54745e1" /><Relationship Type="http://schemas.openxmlformats.org/officeDocument/2006/relationships/notesMaster" Target="/ppt/notesMasters/notesMaster1.xml" Id="Ra15ef5e2cc1c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c5887e67e4a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b73c6bdc97499c" /><Relationship Type="http://schemas.openxmlformats.org/officeDocument/2006/relationships/slideLayout" Target="/ppt/slideLayouts/slideLayout2.xml" Id="R0eeb2e74de50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b2e74de50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a2e11e6a86417a" /><Relationship Type="http://schemas.openxmlformats.org/officeDocument/2006/relationships/notesSlide" Target="/ppt/notesSlides/notesSlide1.xml" Id="Rba77e5da9fba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fccf000a2485f" /><Relationship Type="http://schemas.openxmlformats.org/officeDocument/2006/relationships/notesSlide" Target="/ppt/notesSlides/notesSlide2.xml" Id="R77ff3014cebc4c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23f32ca33457b" /><Relationship Type="http://schemas.openxmlformats.org/officeDocument/2006/relationships/notesSlide" Target="/ppt/notesSlides/notesSlide3.xml" Id="R2354d5338bc9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c4b2b99d7401b" /><Relationship Type="http://schemas.openxmlformats.org/officeDocument/2006/relationships/notesSlide" Target="/ppt/notesSlides/notesSlide4.xml" Id="Rd493c28291d6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67964014c48dc" /><Relationship Type="http://schemas.openxmlformats.org/officeDocument/2006/relationships/notesSlide" Target="/ppt/notesSlides/notesSlide5.xml" Id="R830afa3ba1a247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026b15595f4076" /><Relationship Type="http://schemas.openxmlformats.org/officeDocument/2006/relationships/notesSlide" Target="/ppt/notesSlides/notesSlide6.xml" Id="R480129cdc706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2f0da34e149f8" /><Relationship Type="http://schemas.openxmlformats.org/officeDocument/2006/relationships/notesSlide" Target="/ppt/notesSlides/notesSlide7.xml" Id="R1e629fa7668640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b9c84be394299" /><Relationship Type="http://schemas.openxmlformats.org/officeDocument/2006/relationships/notesSlide" Target="/ppt/notesSlides/notesSlide8.xml" Id="R93d3f600d2254c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dd06a82164874" /><Relationship Type="http://schemas.openxmlformats.org/officeDocument/2006/relationships/notesSlide" Target="/ppt/notesSlides/notesSlide9.xml" Id="R355afbbcc6d04b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2976aba93d4d71" /><Relationship Type="http://schemas.openxmlformats.org/officeDocument/2006/relationships/notesSlide" Target="/ppt/notesSlides/notesSlide10.xml" Id="R32313a5b8bf141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bb3e74ec84461f" /><Relationship Type="http://schemas.openxmlformats.org/officeDocument/2006/relationships/notesSlide" Target="/ppt/notesSlides/notesSlide11.xml" Id="R9d1eef8b645b4a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58056700d146e8" /><Relationship Type="http://schemas.openxmlformats.org/officeDocument/2006/relationships/notesSlide" Target="/ppt/notesSlides/notesSlide12.xml" Id="R577931b1f02f46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58c7e49b2c4854" /><Relationship Type="http://schemas.openxmlformats.org/officeDocument/2006/relationships/notesSlide" Target="/ppt/notesSlides/notesSlide13.xml" Id="R1cf3e147222148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024e3251142cd" /><Relationship Type="http://schemas.openxmlformats.org/officeDocument/2006/relationships/notesSlide" Target="/ppt/notesSlides/notesSlide14.xml" Id="Rda2cb364386a4a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1765c6e144a0d" /><Relationship Type="http://schemas.openxmlformats.org/officeDocument/2006/relationships/notesSlide" Target="/ppt/notesSlides/notesSlide15.xml" Id="Ra79750b879444e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7036326334a25" /><Relationship Type="http://schemas.openxmlformats.org/officeDocument/2006/relationships/notesSlide" Target="/ppt/notesSlides/notesSlide16.xml" Id="Rcfa13cfd80d54b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20A83-173D-4777-858E-86A3577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42D33-C337-4D53-9EE3-0EAFD787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4376D-2C4D-4C2C-A641-7DE7F33E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430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610BC-CCCF-443A-B244-4B034CAE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B2B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7B70-8EF8-4CB7-B8B0-4E435B74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importers, cafes, bakeries, ice cream, beverage R&amp;D, ingredient distributors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50E88-5ACE-45A1-A390-E733426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Vera Heritage | Ube Powder GTM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FBE78-A6AF-4E17-A204-B190F57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38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How Vera should tap the biggest ube powder 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E3E19-FB5D-4EE0-80F5-1F15B21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 practical go-to-market report for export-grade Philippine ube powder: who to target, what to sell, and how to execute over the first 180 days.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5400E-BA6F-44DC-8CB3-65E92D4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5BEE-ECEA-477E-AD5E-0A3E100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3E455-B227-4636-9098-0C6F3CF7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5886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The winning path is B2B validation first, then foodservice and retail after repeat demand is proven.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A6A01-063E-41B0-BE0B-BE98B20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B9CDB-6BFF-43C6-B40F-1BBD424B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Prepared for Marc + Chris | May 2026</a:t>
            </a:r>
          </a:p>
        </p:txBody>
      </p:sp>
    </p:spTree>
    <p:extLst>
      <p:ext uri="{BB962C8B-B14F-4D97-AF65-F5344CB8AC3E}">
        <p14:creationId xmlns:p14="http://schemas.microsoft.com/office/powerpoint/2010/main" val="8510875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D69BE2-5D90-4DE9-8A8A-28B7E03C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AB9D7-6D86-4306-9B85-CA9BD5C6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EDFDB-3CC3-4CD8-A35E-D82BCBE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70698-B5BC-4296-86F5-A688D5B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51E56-55F0-4B33-9C3E-C40BE4A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A7E1F-A4E9-48FA-870A-0C51AB37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A6F5A-C7FE-48A2-A0B5-3B8F941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Sell verified Philippine-origin ube powder as an ingredient system, not a novelty.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957A4-CE9F-4069-8588-D67888D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The buyer is paying for consistency, documentation, origin and formulation usefulness.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0B61E-3685-4C92-B8C8-522DE280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4C34C-EB25-45A3-922A-43136276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76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Flagship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58B94-0C3D-4FF3-A3C9-1E085B0A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100% Philippine ube powder with specs, COA path and lot traceability.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F3091-4D95-4E60-A2BE-D88A0A5F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43840-435A-460C-979B-2B9D4D0B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First markets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80168-F5E2-4748-8599-D7B92990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US first, Europe/UK second, GCC third.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4794B-BFF7-4DE2-B214-F6B64E1D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7A78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77A78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CFAAB-4805-42CB-9C66-56A70784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76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First buyer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D41D8-7D2F-4F96-BF02-D9A14BF2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95650"/>
            <a:ext cx="228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Importers, cafes, bakeries, ice cream, beverage R&amp;D, ingredient distributors.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E3016-7E91-4764-BC52-D304BA88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99A4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B99A4A"/>
                </a:solidFill>
                <a:latin typeface="Georgia"/>
                <a:ea typeface="Georgia"/>
                <a:cs typeface="Georgia"/>
              </a:rPr>
              <a:t>180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2C6DB-38BB-4586-8954-1E00BCE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Days to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94ABA-FAF2-40B4-83A4-14F8A32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Samples, paid pilots, distributor validation and repeat orders.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170CD-CF0F-43BE-A0FA-518A432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6F5E1-2661-4261-B9DF-CE2788D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BD710-DD86-4BA5-A0C0-4F6C4AC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883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Positioning: export-grade Philippine ube powder for brands that need real ube flavor, natural purple color, lot traceability and reliable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7111774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3A91B-625A-4D93-AB19-2B64182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A4D7D-4E29-403F-B59E-48C1C47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97CFA-9BFA-4CAD-992F-B00A1D0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 UK ube trend coverage, FDA/EU compliance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E74A0-5D98-4CCD-9F22-E16BED05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B2985-504D-4457-B037-359FB2B9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97221-3462-4C36-A240-36FCA8B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MARKET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9AFE-2959-4D52-8CB5-717B65D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Start in the US, then expand to Europe/UK and GCC once documentation matures.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FC87E-9608-40EE-A910-B9EBD7B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Each market needs a different entry channel and proof package.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3ED41-0566-4107-858D-175ED6D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1908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78185-7DF0-4552-992A-3258FC03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2F42-35DD-4C4C-8D18-58875D41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Priority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6F566-A5BD-4931-B4DE-02AC367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United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EC838-1CA1-474B-AFFF-B99B6EC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8860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Best first market: Filipino diaspora, specialty food importers, cafe/bakery innovation, ice cream, beverage brands and visible 2026 mainstream ube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8B928-F896-49AA-B6D2-970419DA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31908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CF0AF-F3E6-404A-A2B0-C0E6F8C9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21961-06A7-4E86-8ABD-B1A16B3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Priority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6FFFA-403A-43F9-91CF-3DB5F5B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Europe / UK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38A69-0EE0-4C38-A868-635B722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8860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Strong cafe trend signal and premium product development market, but requires tighter importer, labelling and traceability discipline.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80AF5-91D2-42CD-90DD-A402606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908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19795-22C4-4401-82FC-462D957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D90A4-775F-4BCE-BBB0-FC913A6A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Priority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14983-52B6-4847-967B-7E2F4EB2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Middle East / GCC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4D3E4-1878-421A-BD0A-33E5619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8860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Large Filipino communities, hotel/cafe dessert demand and premium foodservice. Requires halal path, Arabic label and distributor-led compliance.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1F300-86F4-4B95-9F47-652382D7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097D7-071B-4E33-BA2B-5DC33E2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9B3A4-E547-4188-AA35-C0906C0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76875"/>
            <a:ext cx="826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Avoid opening too many fronts. Win one beachhead with samples, pilots and repeat orders before chasing every market.</a:t>
            </a:r>
          </a:p>
        </p:txBody>
      </p:sp>
    </p:spTree>
    <p:extLst>
      <p:ext uri="{BB962C8B-B14F-4D97-AF65-F5344CB8AC3E}">
        <p14:creationId xmlns:p14="http://schemas.microsoft.com/office/powerpoint/2010/main" val="13719058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1325D-8592-47E3-8978-BCA0DC4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940FA-BC69-48E5-8625-2DF09CC9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A525E-474D-49D9-BF5C-A5301C4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3E04E-1D28-4E0B-9DF1-55CB8D0E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61A1-14BE-46CF-885D-FC8A921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3C270-B94E-49A0-BFFF-BB0E51D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TARGET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7DFC2-D21E-49C7-B199-CABAA94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The first buyer is not Starbucks; it is the buyer who can test, pay and reorder fast.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9BE4D-905B-44B4-962D-BBEE0F2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Rank buyer segments by speed to pilot and usefulness of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B8B7-607C-4100-900C-C375C6B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28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6D3FB-8D58-471B-A02A-9BA4120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764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Primary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BDA3D-AC76-4891-9702-A83A2296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5C07-1E41-4799-B9DB-C40E262B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Proof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D63C-9FCB-4E80-84A7-09E9A04F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728D5-FB10-4AB7-8607-7530617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F098A-656E-42BD-8BEF-C4269D7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55463-EFEB-4EF4-8376-90663CD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Asian/Filipino importers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31B42-C76A-4F34-8AED-FC3C657D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57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US, UK, UAE distributors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74953-FFF7-482A-B6FF-1FE26E6A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1kg/5kg/25kg powder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BBFB9-A15B-4E2A-801C-A4F35EDC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Origin, COA, price, shelf life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F8FB4-17C3-4653-8140-DA334829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First revenue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BB96C-78B0-4B69-B43F-4401D04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0ED0B-1A05-4B4D-823E-F158817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Cafes/bakeries/ice cream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32750-ACA5-420D-A6C7-918F7480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Operators who test fast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FD1186-7C25-42C8-93AA-4254AB6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Sample kit + recipes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11F8E-7889-4DEE-AED4-0C822B02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9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Application performance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ACC4A-7D7D-40C7-9EC2-D96EFF1E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Feedback + reorders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204D5-7447-4F07-A339-8CAFE5A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63988F-4753-4894-8A96-B73F9942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Ingredient distributors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56943-23C3-46A5-83DC-3735CAF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623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Specialty and natural food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E3321-336A-4001-BAFF-5B8DAAD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Pilot distribution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24ECA-9E52-496F-A12C-D8041A6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62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Supply reliability + docs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589EC-035D-4967-8C26-6E588582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Scale channel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E1798-14D3-48E3-8F5C-96B24F0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B2F6D7-DF29-4AF5-AB95-8244383E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CPG/R&amp;D teams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7578C-34A8-4FB1-8A6B-95F11967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148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Beverage, dessert, snack brands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9681AC-8A02-401B-ABB2-8CDCF9A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Technical sample 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95DB79-7637-4B2A-AE54-13E1E123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Specs, stability, MOQ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5E94A-E889-4F7A-A410-8CB1B27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Co-development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B2848F-9D86-47DA-8B96-C405AA9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12318-3776-428A-99BB-1F30A80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Retail later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27D7F4-1F29-4EA9-9821-23C70F99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Specialty grocery/e-com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A8E701-5973-4567-ABBF-BB568F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Small retail packs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1D5386-B0B8-4C70-901A-149ED92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67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Brand, labels, reviews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FFFB3D-520F-4C93-8372-A79CDF2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Later stage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688D46-D6CB-45D0-9D31-817B3F3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66D494-E7D9-471B-B556-033E255B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BB1018-40E8-43C8-9CBA-654AF07E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94CAB4-C7EF-4851-BD44-3C0DD66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0225"/>
            <a:ext cx="864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Early buyer scorecard: can they test in 90 days, pay for a pilot, give formulation feedback and become a reference account?</a:t>
            </a:r>
          </a:p>
        </p:txBody>
      </p:sp>
    </p:spTree>
    <p:extLst>
      <p:ext uri="{BB962C8B-B14F-4D97-AF65-F5344CB8AC3E}">
        <p14:creationId xmlns:p14="http://schemas.microsoft.com/office/powerpoint/2010/main" val="1168625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1B7B3-BCCC-4C9C-9D61-1F37128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18DC-3D4A-4520-8CDA-F6476F5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13AA5-EBAD-4499-A264-C829398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774A3-1324-407F-B4A9-DC588E5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A64C9-D5A4-4934-AA52-23319FAA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93649-3E07-48AD-A431-F1CF5C40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4E1FE-578B-4291-970C-92B3965F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Launch powder as the flagship, but sell it with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5FC9C-98AB-43ED-84FF-AEF094F0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Buyers do not just buy powder; they buy confidence that the powder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942DB-9B89-4985-AF6C-8F0FC09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19FCF-4099-4EEE-9A79-23FCE16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C37C3-CB90-4D00-A922-163B58D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SKU 1 | Flagship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1B245-C6EF-4C39-8FD1-D5FDB57D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100% Philippine Ube Powder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355C7-C4CC-4D6E-A672-0FFD5BE5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838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For bakery, ice cream, fillings and food manufacturing. Pack sizes: 100g sample, 500g R&amp;D, 1kg chef, 5kg foodservice, 20/25kg B2B.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9349D-3C76-450E-917C-8DD4A95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00EB1-E782-4D74-BCCC-06D6BBEB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1B7CF-4333-4088-AAC4-D0811F88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336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SKU 2 |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D626F-8786-409B-AB2D-2C9F7E3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8130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Beverage-Ready Blend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A8E81-9D0F-4573-B8BC-8C8CA08F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14700"/>
            <a:ext cx="2838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For lattes, cold foam, milk tea and frappes. Useful because pure powder may need blending support for drinks.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4C385-BBDA-43ED-B943-E896CD9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4B007-6CCD-42B3-B6A9-6682016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A00D2-0449-4674-A4E6-16F0CCCF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SKU 3 |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7DC75-064E-4F97-9746-BE05C786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Foodservice Ube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D7F1C-F0FB-4950-AD70-B6BEE68A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38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 thicker base for cafes, bakeries, ice cream and fillings after buyer feedback validates common use cases.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A2704-3E3D-465E-AAF6-DA8A1D4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80506-68B3-4204-A60D-92E1799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6B68E-ABDB-4241-A612-EFC29AA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95925"/>
            <a:ext cx="807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Do not lead with ube VCO. Keep VCO, halaya and extracts as channel-specific extensions after proof.</a:t>
            </a:r>
          </a:p>
        </p:txBody>
      </p:sp>
    </p:spTree>
    <p:extLst>
      <p:ext uri="{BB962C8B-B14F-4D97-AF65-F5344CB8AC3E}">
        <p14:creationId xmlns:p14="http://schemas.microsoft.com/office/powerpoint/2010/main" val="16624303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8ED07-E49C-4ECC-9692-B1ED2DB4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B3E2A-20E5-4490-8806-38308ADC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892B4-DE39-4666-B9EC-D20233C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9848E-1F3A-4325-AAB2-1724D2D8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64380-E0F9-471C-8D44-AC89D5A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CEBE6-977C-4385-A5F3-62AF5B29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DB908-AC80-4368-9C14-B882B99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Own authenticity, consistency and documents; avoid exaggerated wellness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0DEB1-CE8C-4ABF-BDAD-B10DD20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The strongest commercial pain is reliable real ube, not another purple trend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0B870-C2FF-4135-A108-996443D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476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422DB-4337-404A-855F-61FAD7E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32890-3C50-48AC-B997-EACBD2CD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4C6E0-69B5-444E-A1C3-F653CFC9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Buyer-safe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88CAA-264B-4424-846A-65426DB9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4171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Authentic Philippine origin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Verified supply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Consistent color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Documented lots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Clean ingredient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Foodservice-ready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Export-ready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Formulation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42571-769D-474A-B9B5-4B4394D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476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D428B-C46E-42E8-B5C8-ECBFB1C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EFAE5-8A7E-40F3-9501-B1699AD3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417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5F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5F38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9BBA0-35BE-44CE-B243-B24271C0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Diligence-risk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E6A02-79E0-4460-853F-92CAB385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4171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Superfood miracle claims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Unlimited supply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Global exports are already huge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Better than matcha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Purple powder only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VCO as flagship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Unverified health benefits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96EB1-7480-4767-B302-A39C5FD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483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7A9FE-7C65-4A8A-B1FF-2E240C2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48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91212-0FB9-4BA9-B9A3-86BF0A1D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91175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Best phrase: Vera supplies export-grade Philippine ube powder for food and beverage brands that need authentic ube flavor, natural purple color, lot traceability and reliable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9700856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609D5-3784-46EF-9717-105A967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F28C2-9842-4F93-9D35-1D242E17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4E5A-7101-4E58-BC9D-DECA426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AEEBC-4360-41EE-A8C0-F6FE78B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7F73D-29F0-4635-90B5-364821A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91CCC-AE52-4488-A777-0074678D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D66E4-6C8F-42EF-B253-E662F11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Days 1-30: make Vera credible before serious buyer outreach.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A9FA4-B54F-4DC9-972E-06CB2BB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The first deliverable is a buyer-ready product and documentation package.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7CC1E-A136-4C06-B02A-2E06742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Workstream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3D2F-4601-43D3-AF2D-2857266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1AC8F-0B1C-4A73-9FD9-9EE9026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33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71E03-D482-44E9-B6B0-A36DD86A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Done 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C11FA-939E-4AED-9EC9-F15E11D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F1F7-FA03-46F4-A960-D63351D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BD6DE-3A60-41EA-A6A5-D06EE88E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Product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7DA16-8D52-4E91-8908-581FDC72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146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Ingredient name, botanical name, origin, moisture, mesh, shelf life, storage, allergens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51B59-47B5-46C5-9A20-AB89AA6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146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Chris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72037-81C9-49F2-85F6-6BC3CE3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One-page spec is 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0CDE8-E4C2-4D35-83D1-BE39E122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AFE00-278A-49D0-B768-0A3CCFB6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Processor/lab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E5B78-0535-458C-9CE0-A6D2F924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3 processor quotes and 3 lab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2889B-9C1F-4A7B-B479-3D4DF925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Marc + Chris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0BB90-AAFF-476A-982D-BC56C88C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Costs and lead times logged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15005-BAD1-4805-A7EF-0C37F73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F8B7A-3BCE-4EDB-933D-1A93E18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01CA5-E885-4D13-9475-B22C1EC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814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Supplier intake form and first raw ube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309C2-2A89-45B0-BF00-24C1DEF3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814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Marc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BD654-4DF7-41DD-8357-17271FE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10 supply leads entered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650CC-4D37-47D4-9F45-EB495AF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695FE-3ADD-4CE4-B97C-B2241CCE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Digital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0CB98-AAD1-4873-98E0-0A72C95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Landing page, inquiry form, product one-pager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218F9-DB3A-407C-A506-3C7C253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148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Chris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52F3F-211D-4AC7-9B85-F2CECB3D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Buyer can request samples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0D592-43F3-4C65-8B75-67CDECE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E8B2E-423B-4705-A392-9C52EAB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7F00C-A86E-4AE9-96E6-118C3774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Buyer database and outreach tracker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72B0B7-524A-427F-AC08-EAB06083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Chris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821EE6-DD86-4AF6-9247-A852BBE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First 100 leads loaded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2AEF3-CB9B-4BFE-8260-78308E1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41583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D1C09-925E-40D1-A58B-04059B2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B2D1F-7616-4242-A0FA-523E61E9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F4846-ADF9-4F85-9BE9-603CC24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F8D9A-ED01-4069-8422-E0E29F8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E0BD4-CFAA-4E06-A735-35200FBB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F1BA7-2E7C-45FA-A035-31714A09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A6340-F074-412B-ACF9-AFE6AD8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Days 30-60: send sample kits that make formulation easy.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7898C-9E59-4F87-99F9-C6315C5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 sample kit should include product, proof and recipes.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B262-CB87-46AF-99FE-D33ACE70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190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8309A-3F21-46BB-82F0-9E921AE6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BB0F9-974E-417D-81C9-390A192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Sample formats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B5177-1B5E-4DD0-A19D-D2456E8E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Three packs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35872-BC6C-4ACA-8E53-7E341D18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28860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100g pure powder sample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500g chef/R&amp;D sample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Application sample kit with recipes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Do not rely on a plain pouch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F9570-3B6E-48F6-8971-789AAA5D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3190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07AE7-1990-41BE-BE7D-776FF8C0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01315-D156-49D3-AF91-DB1A516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Inside every 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BF559-E4E8-4C90-B42B-09703D66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Proof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E777F-A82C-4470-BA58-154B506A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86125"/>
            <a:ext cx="28860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Product spec sheet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COA or testing note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Storage guide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MOQ/pricing guide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 feedback form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QR code to site/data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9210C-9FA1-42E7-9DEF-353CBE8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190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770C0-1D4F-48BF-85F6-9EE1A946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D21F6-3E44-453F-BF05-9982035A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05075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35F1A-70ED-4498-9104-10EAB23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52725"/>
            <a:ext cx="2886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Recipe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AAA6C-D943-4D52-8754-4B44F8E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28860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latte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cake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ice cream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cream filling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bread/pandesal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Ube smoothie/protein shake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81E1D5-ECEA-4A44-B0A1-9B97340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A4E6A-5DC2-4713-B517-9EA66F96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14ABD-3B7D-4A97-898C-A406D234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64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The objective is to reduce buyer work. The easier it is to test, the faster they tell Vera whether the product can become recurring demand.</a:t>
            </a:r>
          </a:p>
        </p:txBody>
      </p:sp>
    </p:spTree>
    <p:extLst>
      <p:ext uri="{BB962C8B-B14F-4D97-AF65-F5344CB8AC3E}">
        <p14:creationId xmlns:p14="http://schemas.microsoft.com/office/powerpoint/2010/main" val="11655787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B5DD4-46DF-4C39-8D22-1629F9B8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0D61B-2BC8-452C-9974-98F9C13A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AEA8B-72D4-4A6D-8632-D872ABB0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AB938-E4EC-4840-8806-C9F3FB6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F8A29-C06D-4FB0-851C-2AB2FB8F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0CCA-348F-4163-AF2C-0D77A42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BA913-A602-47BF-81A6-BF6DFDD2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Days 45-90: run a 300-lead buyer outreach sprint.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4990E-9273-4E01-8669-86A02316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The goal is not vanity meetings; it is sample requests, feedback and paid pilots.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49ADB-AE2F-4968-BF84-22DA641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US Asian / Filipino importers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C7483-5E67-427B-BBE3-031872A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FC12C-CC17-4F05-A8D4-8B6FB27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647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F3A27-D456-4A57-84F4-68281C8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80 leads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F4D29-1887-4E7E-A5E0-0173144F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Cafes, bakeries, ice cream makers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EA025-DC7F-470D-B0A9-B2DB373C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16A9C-09D3-4A73-9317-1F1FA30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400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56130-BBB6-451C-BEA5-87573A18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19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70 leads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2C85D-5457-4665-954A-EA03596C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Beverage and dessert brands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7A6AF-AC83-461F-B2DD-A4DA8F7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5223E-4413-4246-A3A5-813C15A9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38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4371F-3F06-44B8-B586-559CE2F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86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7A78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177A78"/>
                </a:solidFill>
                <a:latin typeface="Georgia"/>
                <a:ea typeface="Georgia"/>
                <a:cs typeface="Georgia"/>
              </a:rPr>
              <a:t>50 leads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8E860-2375-4C82-8694-2DF7443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Ingredient distributors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E27A5-7F5F-4155-9433-62D268A3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F3507-E7ED-4C3D-A540-B6795468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790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318DB-CA2D-43EB-9D96-F2EABC9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9A4A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B99A4A"/>
                </a:solidFill>
                <a:latin typeface="Georgia"/>
                <a:ea typeface="Georgia"/>
                <a:cs typeface="Georgia"/>
              </a:rPr>
              <a:t>40 leads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0D6F2-18EE-462C-BC80-3C0AFB59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EU/UK + GCC distributors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5CB97-83D9-46E7-ACEC-33120AB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DBE780-3F30-4B1A-8FAE-CE50ADD9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82444-AB74-4313-984C-FBDD9A11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5F38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B95F38"/>
                </a:solidFill>
                <a:latin typeface="Georgia"/>
                <a:ea typeface="Georgia"/>
                <a:cs typeface="Georgia"/>
              </a:rPr>
              <a:t>60 leads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AE84B-19C0-434B-A399-236396F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476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59974-0A1C-4AC0-9B79-06F4E091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A47235-06EB-4CD7-BC67-25C27B71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4320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CA0A5-138C-4D17-9446-FC351FD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9908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Five touches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0EB71-36CE-43F1-AA9B-CE54FCCF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24250"/>
            <a:ext cx="2171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1. Email intro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2. LinkedIn connect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3. WhatsApp/call for importers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4. Product one-pager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5. Sample offer + feedback deadline</a:t>
            </a:r>
          </a:p>
        </p:txBody>
      </p:sp>
    </p:spTree>
    <p:extLst>
      <p:ext uri="{BB962C8B-B14F-4D97-AF65-F5344CB8AC3E}">
        <p14:creationId xmlns:p14="http://schemas.microsoft.com/office/powerpoint/2010/main" val="18530928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DE340-415D-42DC-BFEF-928651ED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D3A73-33E0-49BC-95CA-9E5050B9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29F0A-0B9F-4AED-8BCC-A8A8E9E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BAF7-CD13-410F-8C48-993B3FD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6ED62-CEB7-41B6-A9DA-037BDB01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37223-57F8-4AAF-A505-D7FD2991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C0D73-06AA-43B5-881A-8C539F1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Days 90-150: convert samples into paid pilots.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A8E6B-9FBB-4962-8DAF-2589BA8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 small paid order is more valuable than a huge non-committal expression of interest.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35A8A-74A2-44F0-9C52-3952704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381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3AB6-58B0-40A1-92C8-7EFF9CAB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F612-BD6D-4C7B-B4E7-9E3F22D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Pilot ladder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82858-BB25-4377-B008-16A8EE7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Start small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79DA5-DBDD-4053-8AFD-2DC8FCE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0764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5kg trial pack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10kg foodservice trial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25kg distributor test bag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50kg R&amp;D batch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100kg early commercial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F08AF-19AC-428E-9084-C5B2301C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CEE79-D8E4-4DB0-8589-710AE0C6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D9C69-D0BE-4451-8C3E-00EFFDB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FE86E-1254-4054-B7F1-CF8AD146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What counts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1AD0C-0799-4C19-B174-F5D6BDF0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3124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 pays something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 tests product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 gives feedback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Buyer confirms reorder conditions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Vera validates landed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27118-F071-462C-9814-2A9FE82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B8E9E-1548-4C33-930C-588AB3A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7AAD7-5575-485D-A679-3C54953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5270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5F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5F38"/>
                </a:solidFill>
                <a:latin typeface="Aptos"/>
                <a:ea typeface="Aptos"/>
                <a:cs typeface="Aptos"/>
              </a:rPr>
              <a:t>Do not chase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A481C-C955-40ED-AD24-CF0C894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00350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Scale traps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A2B49-1351-4D6C-84D1-D80D175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33750"/>
            <a:ext cx="3124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Do not accept a 1MT order before supply, processor capacity, COA timing, packaging and freight economics are proven.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827B9-77C2-4D68-BC30-09015B5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885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868D5-966A-40E9-81D3-065AE27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3C1F8-4007-4B60-9EB5-90664B82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429250"/>
            <a:ext cx="855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Pilot documentation to capture: application, required specs, price, freight, issues, reorder probability and volume potential.</a:t>
            </a:r>
          </a:p>
        </p:txBody>
      </p:sp>
    </p:spTree>
    <p:extLst>
      <p:ext uri="{BB962C8B-B14F-4D97-AF65-F5344CB8AC3E}">
        <p14:creationId xmlns:p14="http://schemas.microsoft.com/office/powerpoint/2010/main" val="6585280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277CD4-AEA6-4B73-B7B6-BF5DB450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26799-A7B4-430F-806C-5B9E52B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D276F-8B1B-4252-8532-79CE71F0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B9EF4-B68F-4261-9168-3DFCF741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28A34-2EFD-4C55-816F-D887769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2A498-F0DF-47CA-ABCC-327D38C5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DISTRIBUTOR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0A3F6-BAFE-4041-971B-E7B87E70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Give territory only after performance, not after enthusiasm.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DE53-1B99-4C6D-8A82-A4D7D00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Use short trials before exclusivity.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AD500-54DF-48D1-8BD7-E099177A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28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Region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27D4C-2A16-4344-BEE3-BC131934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Distributor criteria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C24D4-A186-4FF4-B1B2-E8FC978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Trial offer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E8EC1-334F-4F5B-BECB-52215E1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Exclusivity 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315A5-027A-4140-BB1B-7FF6B7FD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D16AD-E5B3-4389-B0BA-17FE409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D69AA-7220-4604-9BAB-ECAFF607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1AC39-F83E-4EA9-9DA4-97A6767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Imports Asian/Filipino or specialty ingredients; understands FDA/FSVP; sells to foodservice or specialty retail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C4522-6DDF-4590-8789-5E0B7DF5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25-100kg 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B9418-0AC3-4290-A59E-AED32D4A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Minimum purchase + buyer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BA840-D232-484F-A89E-6752201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238CA-248F-4592-A898-2F9A8FA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EU/UK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57898-C6AA-4F3A-8A4B-116B1EF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766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Established food importer; can act as food business operator/importer; understands traceability and labelling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339CF-7664-4DF1-8702-D90307F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Sample + pilot pallet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1DFC1-813B-4DAF-A864-2067E7E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Regulatory + sales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02026-79CA-4C34-BFA1-C4514ED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13089-1B7C-4B86-9A8E-389B274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GCC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73A62-427F-4B1E-9E5C-C726AE3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Halal-capable; Filipino channel access; hotel/restaurant/cafe relationships; Arabic label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9B716-CFE9-4E0A-8B7C-227EA2C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25kg trial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BF7A5-7DF1-4AB6-A283-4905A04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Local registration + reorder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8139F-A5D9-4807-9691-53C46537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C2526-E9EE-4057-B3EE-35B9099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2A466-6B27-44DD-95F2-F7CF60B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No exclusivity at first. 3-month trial distribution with clear minimum purchase target.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353BE-DFE9-478B-9529-8A8FFD26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Performance first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054FA-F5FC-486F-A6CA-556BFF8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4182F"/>
                </a:solidFill>
                <a:latin typeface="Aptos"/>
                <a:ea typeface="Aptos"/>
                <a:cs typeface="Aptos"/>
              </a:rPr>
              <a:t>Written milestone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804235-0C69-457C-9707-6E9DD568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6700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1B286-6F5C-4B20-A2CE-7895133C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DCFB-988C-48F9-A4ED-26B07B49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8A687-322C-4E6E-BB58-EE6753C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FDA FSVP guidance; EU food labelling rules. Final requirements must be confirmed with importer/broker.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FA526-7ACD-4E9E-B16A-1D4B1DF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1DD1E-7E31-4085-9598-FE06AF2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A0721-75F6-4A00-997E-D939D36F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COMPLIANCE MOAT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9BB86-4ABF-40B6-86C1-7674C3D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Documentation is part of the product, not admin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02BC1-9298-4401-94C0-B4FD8E9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For ingredient buyers, the easiest supplier to approve has an advantage.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18233-ED3E-40BA-BE4F-160D70D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DDB47-7FCC-4315-9A84-D4F7563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907DD-4EFF-4175-BD3D-C746689A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0FD7C-7326-45E6-8820-CF1E3D8B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Import basics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61B5-3E5C-4005-AFE6-717FD125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8384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FDA facility registration if applicable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US importer with FSVP responsibility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Prior Notice for shipments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Ingredient/allergen review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COA and batch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106A7-2DEE-41EF-9537-EC0074A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3786D-6C15-4EBD-B9C9-B7FE651A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568BE-C14B-46DD-943D-C37676D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05075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EU / UK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6907A-810D-4F77-A96B-19F32D2B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52725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Traceability and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B78BD-1DC7-454C-9503-64A58258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86125"/>
            <a:ext cx="28384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Importer / food business operator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Mandatory labelling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Batch/lot coding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Allergen and ingredient declarations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Pesticide/heavy metal/micro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EFF8C-9173-4F75-A776-AD2C588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866EA-78D3-40BE-B3AC-524EFFFA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3A814-064C-4830-9042-2A7FB0DF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GCC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D96CB-365C-4E71-AD54-89E53E2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52725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Distributor-led compliance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F7D1C-7A9C-4F75-8C50-E24315AD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86125"/>
            <a:ext cx="28384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Halal path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Arabic label requirements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Importer registration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Shelf-life documentation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Local distributor guidance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C282F-E054-46DF-900D-941F015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C2FA5-7B4D-43C9-A294-B77D0CCD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EC237-9682-4952-89FC-B58C1675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64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Practical move: build a buyer data room before shipment: specs, COA, process flow, supplier forms, allergen statement, batch code guide and storage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0326593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0F91C-3313-4433-9630-0B8EF0A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3FB61-E2F5-4704-87E7-A37CC177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53EEE-3100-4DFD-96B2-ECCBC293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8DE0F-C22D-44B0-BA03-4809AAD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02810-4C0C-4760-BB4A-E3CA147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B2D64-5D73-40E0-9E10-7257917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52F97-CEDC-44E1-9275-D3B85A1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Use three price levels before quoting volume commitments.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A959-13EE-460E-8BF3-A1AD909A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Do not quote large-order pricing until yield, processing, testing, freight and distributor margin are known.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24D25-A75A-43DE-A362-D8AB7B0D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45595-BC37-4E9D-8D5D-01DDBF8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42EC2-1042-443D-9D38-472EE9B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Level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12ED8-2F3A-45AB-AC75-921A228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Sample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A153D-51AB-46DF-B612-01A4E0D1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Small packs priced to filter serious buyers. Free only for high-quality prospects with real volume potential.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71851-92F0-4FC3-80FC-3A7791B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1090-0C5D-455E-9284-A832AA8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B038C-3129-4D28-9DC9-0EEFCEB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5270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Level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34FF2-39EC-495F-8D98-4514C66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0035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Pilot 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E34C1-25BA-44D0-9444-D8E66324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5kg to 25kg. Must cover product, handling, testing allocation, documents and freight admin.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35D54-27CB-4088-A778-8FF9B33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57E7B-D307-4150-9534-E7383EE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BC4C1-06A0-4A78-A2FC-B656AE4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Level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B881C-DEEC-4712-BF28-3CAAF14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Commercial price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61ECF-EF6D-46AD-A3E5-E5A8944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8384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100kg+. Based on landed cost, processing, packaging, testing, export cost, freight, duties, distributor margin and target gross margin.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F6FB4-07C2-4F22-ADED-C643E8D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530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1059E-82CF-4DF9-A486-7C87CA68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82ADD-B8F7-4920-A4DB-329E5AAD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95925"/>
            <a:ext cx="893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Pricing gate: no scale promise until Vera knows raw ube cost, conversion yield, processing cost, moisture loss, lab cost and working-capital cycle.</a:t>
            </a:r>
          </a:p>
        </p:txBody>
      </p:sp>
    </p:spTree>
    <p:extLst>
      <p:ext uri="{BB962C8B-B14F-4D97-AF65-F5344CB8AC3E}">
        <p14:creationId xmlns:p14="http://schemas.microsoft.com/office/powerpoint/2010/main" val="4868264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902E1-DCF8-42B9-824C-F59DFDF3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3C5E1-5056-4DC8-91B4-90D492F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0768E-3380-4090-A924-B619C25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1B852-597C-4418-9A25-01B389CC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44881-5D6E-446B-A67B-497A1BE1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526BE-ADE6-4B06-B3FC-495B283F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4BFAF-665F-4350-BB2D-AFC57BD8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Marc sells and secures supply; Chris builds the system that makes selling credible.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AC933-8C56-4229-9EE1-A2ABAF1A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Weekly deliverables should match the equity/time split.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A58B7-450C-43B9-98F2-585B0E8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E4EA4-3A44-4521-9240-D2839A1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BD835-4B49-44F7-AA80-BD880E0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05075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Marc | Full-time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D87BA-1609-4E95-B7F1-BD05D54A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5272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Commercial and supply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A1DB5-D77F-49A4-B2C5-B4FEF8B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44577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10 buyer calls/messages weekly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 supplier/processor conversations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3 investor updates or meetings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 weekly pipeline report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 supply/cost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Focus: relationships, supply, processors, investor conversations and closing paid pilots.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CFE92-A14D-400D-89E6-6557314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CD3A3-49AB-4E94-816F-CFDBCFC9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B0AC9-E8A6-4F93-9838-EEE87408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05075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Chris | Part-time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6758F-658D-47AB-9909-9F5ACEAC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52725"/>
            <a:ext cx="445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Product and operating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54C3B-4270-40E8-99E9-A825FAF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44577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50 new buyer leads weekly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1 improved sales/document asset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CRM updated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Compliance tracker maintained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Website/content improved</a:t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Sample feedback organized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Focus: product specs, website, CRM, documents, data room and application guides.</a:t>
            </a:r>
          </a:p>
        </p:txBody>
      </p:sp>
    </p:spTree>
    <p:extLst>
      <p:ext uri="{BB962C8B-B14F-4D97-AF65-F5344CB8AC3E}">
        <p14:creationId xmlns:p14="http://schemas.microsoft.com/office/powerpoint/2010/main" val="19447944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5B8AD-7DBE-4FCE-851D-255C039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34BD-1D10-43F5-A821-58585F7D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A8DDB-65DC-4FE7-B42F-981D61EA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Sources: DTI/Xinhua, Starbucks EMEA, Guardian, FDA FSVP, EU labelling,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436EE-B341-404D-BD29-0D9C997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4182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4182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0DD83-107E-475A-BBF5-40E27EE0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66751-EE4A-4130-9685-54165D6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180-DAY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12CB5-BB11-4D4C-A548-0A55352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The first six months should produce proof of repeatable demand, not just awareness.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9CC3D-84EB-4F1D-BA61-9CEA7AB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Move from readiness to samples to paid pilots to distributor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AA5BF-26F6-47CC-BE4A-B46C178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1BB8-D218-4995-BBAC-2678AC1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D1CC-1FDD-45CC-97E8-05FFB2AD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1-15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52777-CB2A-4A49-B7F7-1BD58AA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Product spec + lead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650F-62E2-4850-8D21-C6A1B11F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Finalize specs, processors, labs, website and sample kit design.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891AD-8F44-46CC-8FDD-267B2D0E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8546C-449C-40A7-B08D-0553585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E45AE-3BC3-4A3C-9D0E-F4FC29E1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16-30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841E8-98A4-4BE8-9FE0-BA39DC5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First sample 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1D91-E06A-4129-A51B-CF73D089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3372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Processor quote, product one-pager, email sequence, 100-lead outreach.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26911-CFAD-4BB2-8F45-EAD39CF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C126C-D349-4C03-AA48-AAAB31B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87704-534A-4D86-A3E9-AC31BFE0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31-60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6EFE1-1C88-4497-885D-146722D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Sample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8E03F-B985-4DAC-88A6-2557B9C8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Send 20-30 kits, collect feedback, test applications, refine specs.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75664-CEF6-47AD-B85C-E929C3C4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9BAE0-E5AB-4982-8118-5AAFC106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6A539-68A5-44B2-9978-43D7C37A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61-90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2DA8B-9E7B-4F90-8617-3DA57F1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Paid pilots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810FD-ED91-4095-B826-59C3F385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Close 3-5 pilots, validate landed cost, secure supplier MOUs.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3A483-3A6B-4156-927E-DD36232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A96D8-99F9-4137-AD9B-92D6C12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4831A-F8C2-491F-8EC5-C3ABA49F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052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5F38"/>
                </a:solidFill>
                <a:latin typeface="Aptos"/>
                <a:ea typeface="Aptos"/>
                <a:cs typeface="Aptos"/>
              </a:rPr>
              <a:t>91-120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DBF03-E7A0-4E8A-BB2E-004C68E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First recurring buyer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FA7B9-E9BA-4B1E-83AE-E6C4B44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5297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Complete lab testing, create case study, approach distributors.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4A910-55F6-4363-97CF-6B5F0EF0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1DC1CA-7E25-48C5-9098-9BD7A33B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8380A-8682-4A07-8013-2B7C458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052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C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5C7D"/>
                </a:solidFill>
                <a:latin typeface="Aptos"/>
                <a:ea typeface="Aptos"/>
                <a:cs typeface="Aptos"/>
              </a:rPr>
              <a:t>121-180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6451D5-640E-47DB-B33F-44F0347A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182F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4182F"/>
                </a:solidFill>
                <a:latin typeface="Georgia"/>
                <a:ea typeface="Georgia"/>
                <a:cs typeface="Georgia"/>
              </a:rPr>
              <a:t>Distributor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10AF4-8084-47AD-8EBF-D1677DC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52975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6170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6170"/>
                </a:solidFill>
                <a:latin typeface="Aptos"/>
                <a:ea typeface="Aptos"/>
                <a:cs typeface="Aptos"/>
              </a:rPr>
              <a:t>Secure one pilot, sell 250-500kg cumulative, prepare investor update.</a:t>
            </a:r>
          </a:p>
        </p:txBody>
      </p:sp>
    </p:spTree>
    <p:extLst>
      <p:ext uri="{BB962C8B-B14F-4D97-AF65-F5344CB8AC3E}">
        <p14:creationId xmlns:p14="http://schemas.microsoft.com/office/powerpoint/2010/main" val="20564685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ACA72-DAD5-4026-8CC4-715D28A8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376A1-EC59-40B0-B98B-1508E58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5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7B0C0-212F-41D4-813E-E1F4FEF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EC3D1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CEC3D1"/>
                </a:solidFill>
                <a:latin typeface="Aptos"/>
                <a:ea typeface="Aptos"/>
                <a:cs typeface="Aptos"/>
              </a:rPr>
              <a:t>Sources: DTI/Xinhua, Starbucks EMEA, Guardian, FDA, EU, SIAL Paris, SupplySide Global.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49075-228A-4487-821B-302FA7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D9C48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C48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53899-364D-438C-9686-7AF6447E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5ACA3-AA54-47AE-9007-1796790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C7D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9C7DF"/>
                </a:solidFill>
                <a:latin typeface="Aptos"/>
                <a:ea typeface="Aptos"/>
                <a:cs typeface="Aptos"/>
              </a:rPr>
              <a:t>FIRST TARGET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5988D-BFA9-49F9-926E-1DDA3BC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BF6E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BF6EE"/>
                </a:solidFill>
                <a:latin typeface="Georgia"/>
                <a:ea typeface="Georgia"/>
                <a:cs typeface="Georgia"/>
              </a:rPr>
              <a:t>Start with buyer types that can test and reorder quickly.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38A84-C2B9-4B13-9CC6-7ACB96BE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CD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CD9"/>
                </a:solidFill>
                <a:latin typeface="Aptos"/>
                <a:ea typeface="Aptos"/>
                <a:cs typeface="Aptos"/>
              </a:rPr>
              <a:t>Named lead lists should be built under these 10 target categories.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95224-D5C6-4B0C-949E-B186631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39296-113A-4991-A10B-8534A99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241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US Filipino food importer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56BCE-00FB-4C96-851C-CEF41B2E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92CC7-5062-4106-9AB5-619C3ED5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479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US Asian grocery distributor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89775-9A4A-44E8-B663-38500E16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6BD92-E8E7-4E22-81AB-DBB99C04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718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California Filipino bakery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44956-8C3F-4F03-9AB3-1E5B006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C4D91-CB16-4878-AC61-33F30426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New York / New Jersey Filipino dessert cafe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76759-ECAB-430B-ABA1-44E7C012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F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F3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6AAA6-0031-4D64-965C-34D830E3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9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UK Filipino/Asian importer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97413-88DC-4447-A8FC-0AB8465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4E5EE-6FCE-4EB2-81F4-6CA00DC9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London specialty cafe/dessert 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BA078-C7A0-4F95-A4C7-4B7360F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A7DB0-E6DB-4499-B03C-BC6F838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UAE Filipino food distributor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9E58A-A6DE-4673-A658-7ACB6B52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CB701-4A88-41E1-9B50-1D677E51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Dubai hotel pastry supplier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EE275-D00B-44B7-8351-09C71D2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9A329-2612-4DAC-ABE8-7C768AE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957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US ice cream/gelato manufacturer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8F62F-AC7C-4EA3-AEF7-49B919D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5F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F3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29900-C166-469A-9534-242D9DE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EDF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EDF6"/>
                </a:solidFill>
                <a:latin typeface="Aptos"/>
                <a:ea typeface="Aptos"/>
                <a:cs typeface="Aptos"/>
              </a:rPr>
              <a:t>Beverage powder / latte mix brand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05EBC-4EE6-4EF6-9EE2-BD0CE7B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234"/>
          </a:solidFill>
          <a:ln xmlns:a="http://schemas.openxmlformats.org/drawingml/2006/main" w="9525">
            <a:solidFill>
              <a:srgbClr val="62526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69AA4-4A31-470D-8729-37DEA05F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472FF-5313-41A0-9877-2CF4F837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76875"/>
            <a:ext cx="864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EEF8"/>
                </a:solidFill>
                <a:latin typeface="Georgia"/>
                <a:ea typeface="Georgia"/>
                <a:cs typeface="Georgia"/>
              </a:defRPr>
            </a:pPr>
            <a:r>
              <a:rPr sz="1013" b="0">
                <a:solidFill>
                  <a:srgbClr val="F7EEF8"/>
                </a:solidFill>
                <a:latin typeface="Georgia"/>
                <a:ea typeface="Georgia"/>
                <a:cs typeface="Georgia"/>
              </a:rPr>
              <a:t>Operating mantra: start B2B, prove repeat orders, then earn the right to scale into distributors, larger manufacturers and retail.</a:t>
            </a:r>
          </a:p>
        </p:txBody>
      </p:sp>
    </p:spTree>
    <p:extLst>
      <p:ext uri="{BB962C8B-B14F-4D97-AF65-F5344CB8AC3E}">
        <p14:creationId xmlns:p14="http://schemas.microsoft.com/office/powerpoint/2010/main" val="2077197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2026-05-10T07:52:51.4030000Z</dcterms:created>
  <dcterms:modified xsi:type="dcterms:W3CDTF">2026-05-10T07:52:51.4030000Z</dcterms:modified>
</coreProperties>
</file>