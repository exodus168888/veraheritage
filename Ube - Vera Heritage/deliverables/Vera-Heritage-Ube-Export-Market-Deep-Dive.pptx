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c86ad0e8a64db1" /><Relationship Type="http://schemas.openxmlformats.org/officeDocument/2006/relationships/extended-properties" Target="/docProps/app.xml" Id="Rf750ddd3399f4502" /><Relationship Type="http://schemas.openxmlformats.org/officeDocument/2006/relationships/officeDocument" Target="/ppt/presentation.xml" Id="Rb9e5621a695541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0176efc11f4230"/>
  </p:sldMasterIdLst>
  <p:notesMasterIdLst>
    <p:notesMasterId xmlns:r="http://schemas.openxmlformats.org/officeDocument/2006/relationships" r:id="R66789be06e8d4989"/>
  </p:notesMasterIdLst>
  <p:sldIdLst>
    <p:sldId xmlns:r="http://schemas.openxmlformats.org/officeDocument/2006/relationships" id="256" r:id="R72dd2b1d484e4f1f"/>
    <p:sldId xmlns:r="http://schemas.openxmlformats.org/officeDocument/2006/relationships" id="257" r:id="R2e1c68bcb6544951"/>
    <p:sldId xmlns:r="http://schemas.openxmlformats.org/officeDocument/2006/relationships" id="258" r:id="R818dbfb6c1af46cf"/>
    <p:sldId xmlns:r="http://schemas.openxmlformats.org/officeDocument/2006/relationships" id="259" r:id="Rad7f886cf0de4bed"/>
    <p:sldId xmlns:r="http://schemas.openxmlformats.org/officeDocument/2006/relationships" id="260" r:id="R11748ffb9082452e"/>
    <p:sldId xmlns:r="http://schemas.openxmlformats.org/officeDocument/2006/relationships" id="261" r:id="R8f47d766bea14863"/>
    <p:sldId xmlns:r="http://schemas.openxmlformats.org/officeDocument/2006/relationships" id="262" r:id="Re6ad9707647d4e07"/>
    <p:sldId xmlns:r="http://schemas.openxmlformats.org/officeDocument/2006/relationships" id="263" r:id="R79dc8def10ca41fa"/>
    <p:sldId xmlns:r="http://schemas.openxmlformats.org/officeDocument/2006/relationships" id="264" r:id="R661785e68dd14fd0"/>
    <p:sldId xmlns:r="http://schemas.openxmlformats.org/officeDocument/2006/relationships" id="265" r:id="Rd3c430dfb8e54a0b"/>
    <p:sldId xmlns:r="http://schemas.openxmlformats.org/officeDocument/2006/relationships" id="266" r:id="R282755f45d3f4c9c"/>
    <p:sldId xmlns:r="http://schemas.openxmlformats.org/officeDocument/2006/relationships" id="267" r:id="R6a606de370e64328"/>
    <p:sldId xmlns:r="http://schemas.openxmlformats.org/officeDocument/2006/relationships" id="268" r:id="Ra9fc9cb1a3b24f42"/>
    <p:sldId xmlns:r="http://schemas.openxmlformats.org/officeDocument/2006/relationships" id="269" r:id="R2d08ea40c7f941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176efc11f4230" /><Relationship Type="http://schemas.openxmlformats.org/officeDocument/2006/relationships/theme" Target="/ppt/theme/theme1.xml" Id="Rb7e9b1cc3dbb47c9" /><Relationship Type="http://schemas.openxmlformats.org/officeDocument/2006/relationships/notesMaster" Target="/ppt/notesMasters/notesMaster1.xml" Id="R66789be06e8d4989" /><Relationship Type="http://schemas.openxmlformats.org/officeDocument/2006/relationships/presProps" Target="/ppt/presProps.xml" Id="Rb8008f4791514959" /><Relationship Type="http://schemas.openxmlformats.org/officeDocument/2006/relationships/viewProps" Target="/ppt/viewProps.xml" Id="R58776e2346dd4285" /><Relationship Type="http://schemas.openxmlformats.org/officeDocument/2006/relationships/tableStyles" Target="/ppt/tableStyles.xml" Id="R7e9957e3e0a74483" /><Relationship Type="http://schemas.openxmlformats.org/officeDocument/2006/relationships/slide" Target="/ppt/slides/slide1.xml" Id="R72dd2b1d484e4f1f" /><Relationship Type="http://schemas.openxmlformats.org/officeDocument/2006/relationships/slide" Target="/ppt/slides/slide2.xml" Id="R2e1c68bcb6544951" /><Relationship Type="http://schemas.openxmlformats.org/officeDocument/2006/relationships/slide" Target="/ppt/slides/slide3.xml" Id="R818dbfb6c1af46cf" /><Relationship Type="http://schemas.openxmlformats.org/officeDocument/2006/relationships/slide" Target="/ppt/slides/slide4.xml" Id="Rad7f886cf0de4bed" /><Relationship Type="http://schemas.openxmlformats.org/officeDocument/2006/relationships/slide" Target="/ppt/slides/slide5.xml" Id="R11748ffb9082452e" /><Relationship Type="http://schemas.openxmlformats.org/officeDocument/2006/relationships/slide" Target="/ppt/slides/slide6.xml" Id="R8f47d766bea14863" /><Relationship Type="http://schemas.openxmlformats.org/officeDocument/2006/relationships/slide" Target="/ppt/slides/slide7.xml" Id="Re6ad9707647d4e07" /><Relationship Type="http://schemas.openxmlformats.org/officeDocument/2006/relationships/slide" Target="/ppt/slides/slide8.xml" Id="R79dc8def10ca41fa" /><Relationship Type="http://schemas.openxmlformats.org/officeDocument/2006/relationships/slide" Target="/ppt/slides/slide9.xml" Id="R661785e68dd14fd0" /><Relationship Type="http://schemas.openxmlformats.org/officeDocument/2006/relationships/slide" Target="/ppt/slides/slide10.xml" Id="Rd3c430dfb8e54a0b" /><Relationship Type="http://schemas.openxmlformats.org/officeDocument/2006/relationships/slide" Target="/ppt/slides/slide11.xml" Id="R282755f45d3f4c9c" /><Relationship Type="http://schemas.openxmlformats.org/officeDocument/2006/relationships/slide" Target="/ppt/slides/slide12.xml" Id="R6a606de370e64328" /><Relationship Type="http://schemas.openxmlformats.org/officeDocument/2006/relationships/slide" Target="/ppt/slides/slide13.xml" Id="Ra9fc9cb1a3b24f42" /><Relationship Type="http://schemas.openxmlformats.org/officeDocument/2006/relationships/slide" Target="/ppt/slides/slide14.xml" Id="R2d08ea40c7f941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8ff9409d95b42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b7f7f6e0264e2e" /><Relationship Type="http://schemas.openxmlformats.org/officeDocument/2006/relationships/notesMaster" Target="/ppt/notesMasters/notesMaster1.xml" Id="Rbb79d9d45b3d4d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11f25554584714" /><Relationship Type="http://schemas.openxmlformats.org/officeDocument/2006/relationships/notesMaster" Target="/ppt/notesMasters/notesMaster1.xml" Id="R2d5b7009d2a147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3fbcaccea648ab" /><Relationship Type="http://schemas.openxmlformats.org/officeDocument/2006/relationships/notesMaster" Target="/ppt/notesMasters/notesMaster1.xml" Id="Rbd3138268f9748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a550509d224ce7" /><Relationship Type="http://schemas.openxmlformats.org/officeDocument/2006/relationships/notesMaster" Target="/ppt/notesMasters/notesMaster1.xml" Id="Rbfaf6fab47bb48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0c61764124509" /><Relationship Type="http://schemas.openxmlformats.org/officeDocument/2006/relationships/notesMaster" Target="/ppt/notesMasters/notesMaster1.xml" Id="Ra61a73162e514e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6f50e0c8cc4e5b" /><Relationship Type="http://schemas.openxmlformats.org/officeDocument/2006/relationships/notesMaster" Target="/ppt/notesMasters/notesMaster1.xml" Id="R86f337bc9fba41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7f41133f554569" /><Relationship Type="http://schemas.openxmlformats.org/officeDocument/2006/relationships/notesMaster" Target="/ppt/notesMasters/notesMaster1.xml" Id="Rfbd2e65ebafa45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88b491c2e94995" /><Relationship Type="http://schemas.openxmlformats.org/officeDocument/2006/relationships/notesMaster" Target="/ppt/notesMasters/notesMaster1.xml" Id="Rb0ff446ab64143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7d629f087740d8" /><Relationship Type="http://schemas.openxmlformats.org/officeDocument/2006/relationships/notesMaster" Target="/ppt/notesMasters/notesMaster1.xml" Id="R8febf86ad95b4e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3a7f1201c64213" /><Relationship Type="http://schemas.openxmlformats.org/officeDocument/2006/relationships/notesMaster" Target="/ppt/notesMasters/notesMaster1.xml" Id="R26440c00a01743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d5a4a6dcd745ca" /><Relationship Type="http://schemas.openxmlformats.org/officeDocument/2006/relationships/notesMaster" Target="/ppt/notesMasters/notesMaster1.xml" Id="R4c9df7ef314f42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af62915ff74cc4" /><Relationship Type="http://schemas.openxmlformats.org/officeDocument/2006/relationships/notesMaster" Target="/ppt/notesMasters/notesMaster1.xml" Id="Rbed24f4a3aab44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988a4c12784baf" /><Relationship Type="http://schemas.openxmlformats.org/officeDocument/2006/relationships/notesMaster" Target="/ppt/notesMasters/notesMaster1.xml" Id="R314765ef76aa45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65e9bb2ff64a5b" /><Relationship Type="http://schemas.openxmlformats.org/officeDocument/2006/relationships/notesMaster" Target="/ppt/notesMasters/notesMaster1.xml" Id="R3c82e604b4f64d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5b9eb5e814449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c186e43496b40e7" /><Relationship Type="http://schemas.openxmlformats.org/officeDocument/2006/relationships/slideLayout" Target="/ppt/slideLayouts/slideLayout2.xml" Id="R138d4e1e5e3043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8d4e1e5e3043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c34a29f6f44ddc" /><Relationship Type="http://schemas.openxmlformats.org/officeDocument/2006/relationships/notesSlide" Target="/ppt/notesSlides/notesSlide1.xml" Id="Rd1b261ee639c42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f9cbff57ed4593" /><Relationship Type="http://schemas.openxmlformats.org/officeDocument/2006/relationships/notesSlide" Target="/ppt/notesSlides/notesSlide2.xml" Id="R2776f78b162c46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e76ac5da394e4b" /><Relationship Type="http://schemas.openxmlformats.org/officeDocument/2006/relationships/notesSlide" Target="/ppt/notesSlides/notesSlide3.xml" Id="R59453f35409f49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066028145e4584" /><Relationship Type="http://schemas.openxmlformats.org/officeDocument/2006/relationships/notesSlide" Target="/ppt/notesSlides/notesSlide4.xml" Id="R48ea7cb7eb094b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3049502ff64255" /><Relationship Type="http://schemas.openxmlformats.org/officeDocument/2006/relationships/notesSlide" Target="/ppt/notesSlides/notesSlide5.xml" Id="R001713292aac4c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50d37dcc124484" /><Relationship Type="http://schemas.openxmlformats.org/officeDocument/2006/relationships/notesSlide" Target="/ppt/notesSlides/notesSlide6.xml" Id="Ra1e5e0a989494c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173a0542824755" /><Relationship Type="http://schemas.openxmlformats.org/officeDocument/2006/relationships/notesSlide" Target="/ppt/notesSlides/notesSlide7.xml" Id="Rcef9e571cafc44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ab1c5dbe8f491f" /><Relationship Type="http://schemas.openxmlformats.org/officeDocument/2006/relationships/notesSlide" Target="/ppt/notesSlides/notesSlide8.xml" Id="R5d34c3b9a0f14a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0548b4986a46dd" /><Relationship Type="http://schemas.openxmlformats.org/officeDocument/2006/relationships/notesSlide" Target="/ppt/notesSlides/notesSlide9.xml" Id="R7b41bf86c87d47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509bca0e7847a0" /><Relationship Type="http://schemas.openxmlformats.org/officeDocument/2006/relationships/notesSlide" Target="/ppt/notesSlides/notesSlide10.xml" Id="R1288d409e51d46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67db178b6d48e6" /><Relationship Type="http://schemas.openxmlformats.org/officeDocument/2006/relationships/notesSlide" Target="/ppt/notesSlides/notesSlide11.xml" Id="R0c682062f9464b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952318a93f4818" /><Relationship Type="http://schemas.openxmlformats.org/officeDocument/2006/relationships/notesSlide" Target="/ppt/notesSlides/notesSlide12.xml" Id="Rcf112b85a72d44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16d4c881c34797" /><Relationship Type="http://schemas.openxmlformats.org/officeDocument/2006/relationships/notesSlide" Target="/ppt/notesSlides/notesSlide13.xml" Id="R7bb1d34be7f748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b9f62de3cb4806" /><Relationship Type="http://schemas.openxmlformats.org/officeDocument/2006/relationships/notesSlide" Target="/ppt/notesSlides/notesSlide14.xml" Id="R9c787b3b6b2e4f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723FC3-871B-4D58-8934-DA7B3C53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C84F6-7940-4076-82FB-D9E07A51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85D38-FEE9-40C0-8D0B-D3B8E868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763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5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43D04-BE6D-4392-A467-4DF97517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75" b="0">
                <a:solidFill>
                  <a:srgbClr val="6F3CA5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6F3CA5"/>
                </a:solidFill>
                <a:latin typeface="Georgia"/>
                <a:ea typeface="Georgia"/>
                <a:cs typeface="Georgia"/>
              </a:rPr>
              <a:t>$3.06M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B2DCB-ACED-42C1-93BE-274E7965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669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reported Philippine ube + ube-based exports in 2025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F1C9D-D1EF-4656-9EDB-C2BA28DD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14650"/>
            <a:ext cx="175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5E04E-3743-4589-97DC-849F65A5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95F38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B95F38"/>
                </a:solidFill>
                <a:latin typeface="Georgia"/>
                <a:ea typeface="Georgia"/>
                <a:cs typeface="Georgia"/>
              </a:rPr>
              <a:t>Not the same thing as global ube exports.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F46B4-CA37-4E17-BFAE-538C1CF7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Vera Heritage | Ube export market deep dive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7D6C7-96E3-4F73-A43C-A3BE3CAC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How big are global ube exports, really?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D75B6-C7AA-4359-8909-EAD61740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A practical investor-grade read of official trade codes, Philippine export signals, product forms and exporter countries.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BCDC1-0635-49C6-B369-1EC3F1DD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19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5D9A5-C4CE-4A22-84D5-EA85CF88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50BA5-D997-4FC2-AF01-F2832106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58864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The answer is not a single number. Ube has to be triangulated from Philippine DTI data, adjacent HS codes and shipment/product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C62E0-D0FA-484E-A823-FCC8A8C4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3BD38-3F69-432C-BDAD-42F6E34B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Prepared for Marc + Chris | May 2026</a:t>
            </a:r>
          </a:p>
        </p:txBody>
      </p:sp>
    </p:spTree>
    <p:extLst>
      <p:ext uri="{BB962C8B-B14F-4D97-AF65-F5344CB8AC3E}">
        <p14:creationId xmlns:p14="http://schemas.microsoft.com/office/powerpoint/2010/main" val="3718230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5274B3-0F69-45D1-999B-A191E062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114C1-1723-4CBF-9513-AD311477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0AC9E-7D89-4199-81EB-9B855F38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Sources: DTI, WITS / World Bank Comtrade, ABRAMS / UN Comtrade, shipment databases.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9C669-6980-4756-BDF0-F7179AC1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F32AE-4307-4FBD-BBEB-729F08F1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BB5D8-9FF9-43D3-B659-1928DE49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EXECUTIVE ANSWER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92D83-564D-41A3-B398-7FB8E1D5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04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True ube exports are still small; adjacent yam and powder trade is much larger.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A7462-F929-4E5C-9E91-1E70C592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This is a supply-chain professionalization opportunity, not a mature commodity-export category.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A9B3B-517F-4BD0-9E2C-3B7904F6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F3CA5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6F3CA5"/>
                </a:solidFill>
                <a:latin typeface="Georgia"/>
                <a:ea typeface="Georgia"/>
                <a:cs typeface="Georgia"/>
              </a:rPr>
              <a:t>$3.06M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D77A6-9FCE-4CFE-8E1B-415398A0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Philippine true-ube public figure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A5943-B94F-4440-9E26-04BDB9B0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DTI-reported ube and ube-based exports, 2025.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5C5CA-89AA-463B-BECD-A79BBCD3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873F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5F873F"/>
                </a:solidFill>
                <a:latin typeface="Georgia"/>
                <a:ea typeface="Georgia"/>
                <a:cs typeface="Georgia"/>
              </a:rPr>
              <a:t>$104M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2E633-0645-4CED-B92F-A1AAC913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Adjacent yam trade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1A198-FA9B-41F2-B729-C63490FF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HS 071430 global yams exports, 2024. Not ube-specific.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58F20-B575-4A61-BF57-7B3E9F25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7A78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77A78"/>
                </a:solidFill>
                <a:latin typeface="Georgia"/>
                <a:ea typeface="Georgia"/>
                <a:cs typeface="Georgia"/>
              </a:rPr>
              <a:t>$134M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0C785-8C76-479F-8A3B-0BAAE6E0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Adjacent powder trade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AC8E1-06F7-4C81-9AA3-D9F99BAA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HS 110620 root/tuber flour exports, 2024. Mostly not ube.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3DEDE-033E-4612-90C3-D4459533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99A4A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B99A4A"/>
                </a:solidFill>
                <a:latin typeface="Georgia"/>
                <a:ea typeface="Georgia"/>
                <a:cs typeface="Georgia"/>
              </a:rPr>
              <a:t>$8-25M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BDE40-5272-4DD4-AD49-E79794A8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Best true-ube working range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604D1-911C-4504-85B0-AE1ADD25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Directional estimate only; requires paid shipment-level validation.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D00BE-2E19-4BE4-BE87-FCE05071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9334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24F5C-8986-4457-B511-87BFDA01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1CE66-4177-4FF3-9BEB-8C05F203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90297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Investor-safe wording: global ube demand is rising faster than verified Philippine-origin supply. Do not claim global ube exports are already huge unless line-level customs data proves it.</a:t>
            </a:r>
          </a:p>
        </p:txBody>
      </p:sp>
    </p:spTree>
    <p:extLst>
      <p:ext uri="{BB962C8B-B14F-4D97-AF65-F5344CB8AC3E}">
        <p14:creationId xmlns:p14="http://schemas.microsoft.com/office/powerpoint/2010/main" val="12263066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77D7B4-C4CC-4797-87E7-6220DB2B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20791-7704-445C-896A-D381A65F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A384B-B57E-4E0B-99B0-FF8DAD5C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Sources: DTI; ABRAMS/UN Comtrade HS 071430; WITS/World Bank Comtrade HS 110620; TMR ube market sizing.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E3A69-93BF-4E8B-998C-2EE05E65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487F5-FA42-427A-B91F-E10D2B8A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91650-A216-495E-BE9A-6E8E3FE2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DATA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98658-6DE0-405F-B768-54F77C2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04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The market has four different numbers; only one is true-ube-specific.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49949-DE88-4D02-8D2E-582A458B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Each layer answers a different question. Mixing them creates investor diligence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63457-E466-4185-880E-F250837B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381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4187C-A920-42E8-B23D-EBE20558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93248-A9DA-46E4-A00D-3D4AFB80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33AA1-9195-40F8-99CC-057B6CED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$3.06M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5045E-8E47-45B7-AF2B-6DA9FCA8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2076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True Philippine ube exports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Most relevant public number; not global.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E9683-6E96-4B71-BCB6-A35DF0A6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81250"/>
            <a:ext cx="2381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B9650-7914-40DB-B1F8-6B863BB2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81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196B2-7921-4F16-8A3F-F324C6DB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527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F873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F873F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9D2EF-CF5C-4CA0-A369-534E011B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09875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$104M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6E981-5545-42F6-A070-6857DE80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95650"/>
            <a:ext cx="2076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Global yams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Official HS 071430; all Dioscorea yams.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24ECB-5E90-4E47-B6D3-5EA640DA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2381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2FA5F-8B01-425B-BA4F-547E20D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36711-2BF3-4C67-95F9-9CD6515A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77A7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177A78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7ABB2-DB54-44E3-81FE-2A47DB60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$134M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30528-AFEE-4619-A378-5CA2C108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2076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Root/tuber flour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Official HS 110620; broad powder pool.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32EF6-3C6F-4928-A0BE-DBC6380A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81250"/>
            <a:ext cx="2381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0ED99C-D33A-4455-A6BB-073F892B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81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3757F8-0AB8-4486-8489-1F7B83AA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527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B99A4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B99A4A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3491D3-B961-40E0-88FC-174F8189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$455M+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DF8E58-40ED-45B2-BC94-ED5CEEBE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95650"/>
            <a:ext cx="2076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Global ube market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Market size, not export value.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19B7EA-0BBB-4260-A9B0-8FA8DC50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81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7870EC-FC2E-465A-BA6F-563732AC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DE7A35-E6BB-431B-AF76-0DC178BA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950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Use the US$3.06M figure for actual Philippine ube exports. Use the US$104M and US$134M figures only as adjacent trade pools that show where export demand could professionalize.</a:t>
            </a:r>
          </a:p>
        </p:txBody>
      </p:sp>
    </p:spTree>
    <p:extLst>
      <p:ext uri="{BB962C8B-B14F-4D97-AF65-F5344CB8AC3E}">
        <p14:creationId xmlns:p14="http://schemas.microsoft.com/office/powerpoint/2010/main" val="20600581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E1AFB5-6F7F-4262-8799-A31B870C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8B1D0-AEFB-4CE3-BB0D-8FB7C043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E346A-9D19-4772-931A-083FF126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Sources: DTI, WITS / World Bank Comtrade, ABRAMS / UN Comtrade, Exim, Volza, Tridge.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32C10-08BC-4F00-91A5-1B24DF45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E6A5E-F6A5-4870-B794-DD1C6A23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E0169-13C5-46C3-8710-7B341F81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CODING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ADFBA-1BE2-4670-A377-54B29436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04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Customs data does not isolate ube, so product-form shares cannot be read directly.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38172-3334-49AA-B6F6-C549A5EB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A real market model must map product descriptions across several HS buckets.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2B4FA-238B-4B20-BE70-7E00575B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Product 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59055-B92E-42B2-AAC3-5B042DC0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Likely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0C7F4-3EDD-4730-877D-5DF70460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What gets mixed 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FA253-F95D-47BE-8475-0E762485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How to use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E6404-AC63-42B7-BB1F-637F1F71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60207-B0AF-4711-B821-25C5500F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Fresh/frozen/dried yam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6592A-753B-431F-98F2-7ED54961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071430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7526D-55D8-4A8C-A5CF-C8719B7F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All Dioscorea yams, not just ube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4DDF2-DDD8-4AF6-B4C8-6C135E61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Adjacent root trade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61233-5C79-4B0E-B757-1C1D185A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E2968-1170-43A1-8900-8A968753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Ube powder / yam flour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50DCA-6604-418A-85E5-DEC1B058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110620 / 071430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7F583B-668C-41AB-AA16-62645A0D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Cassava, sago, sweet potato, other tuber flours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E7E0F-7A3D-44A7-9D16-D006C7BC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Powder opportunity proxy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697353-B108-47C8-80D5-ADA2B3C9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8DF35-32C7-469C-AE86-EFB4A4D2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Halaya / jam / spread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3F3B88-D21A-4B89-B276-460C145F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200799 / 200899 / 071430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BA252-F72E-4C99-A6AC-BBFBEDA4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Broad fruit/veg preparations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C361BB-0965-4D3F-8DAC-2FAD629B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14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Shipment-level 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7AA208-53B1-4C45-BDA6-EC74DEBC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10270D-F0A5-4D1A-B3EC-C5DA6D06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Extract / flavor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DFB90B-78FD-47E7-B60C-401D39CC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38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210690 / 330210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5A027B-D7D4-4335-A68B-CEA9F929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Food prep and flavor 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03CD3C-34F1-42E5-B30B-8843573B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386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Only directional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0A82FE-ED01-4AF8-B7ED-A73440F7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CD963D-C97C-458F-949F-74081A2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Bakery / desserts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EC27B4-3EF3-45CA-ADA1-43DFB3E2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95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1905 / 2105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A1060F-2F40-4B69-A62B-1BB8AC6F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Finished food where ube is only one ingredient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A7D5BE-1885-4AB4-B624-1C9AB176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958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Demand signal, not ingredient export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521FAD-6F8F-4B14-846C-D4DC3276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D5161E-FF35-4EAA-A35A-680AB149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A42C5C-839A-44D0-9C9D-ED1C2F0A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9A09AF-3AE6-40CA-B957-AE186BB7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86400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Implication: the correct deck language is 'true ube exports are under-reported across broad trade codes,' not 'global exports equal the whole ube market.'</a:t>
            </a:r>
          </a:p>
        </p:txBody>
      </p:sp>
    </p:spTree>
    <p:extLst>
      <p:ext uri="{BB962C8B-B14F-4D97-AF65-F5344CB8AC3E}">
        <p14:creationId xmlns:p14="http://schemas.microsoft.com/office/powerpoint/2010/main" val="20507198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B91303-0236-420E-B187-F76C1713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941C1-4347-45A9-B834-1E963B39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2CA8B-66C2-4A87-9719-7F66E3E3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Sources: DTI via BusinessMirror and Xinhua; Rolling Stone Philippines citing CNN/DTI.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97A21-182E-4495-8597-8962674F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A2CC9-EB32-4CF7-884E-3058FE81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9E86D-853B-433A-B20A-A9AA04E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PHILIPPINE EXPORTS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D48D5-B1C2-4C5F-8C22-830D2E25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04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The best public true-ube anchor is the Philippines: US$3.06M in 2025.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E2B52-32EE-4DEF-9C8E-D462C37C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That is small in absolute terms, but strong as an early-stage premium-origin signal.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8B1E4-7916-4D76-91E5-FCC29809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E1B03-B1FA-49DE-83CE-D85EE4B1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46F38-C7D5-40AC-80D9-C8AE9953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Ube + ube-based exports,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6CA11-41BC-402E-9828-8D42DC09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52700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3CA5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6F3CA5"/>
                </a:solidFill>
                <a:latin typeface="Georgia"/>
                <a:ea typeface="Georgia"/>
                <a:cs typeface="Georgia"/>
              </a:rPr>
              <a:t>$3.06M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79D1B-1617-4081-801C-2AABA9F6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2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DTI-reported export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8508C-FB8E-4BC8-A4D7-97F28001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E0D67-4F48-4D9C-AC42-FC28A5F0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752E4-D02E-4059-8EEC-CBF1B6F0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Reported export volume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B4906-39A4-4FA4-A6FA-C6B029B6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57575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873F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5F873F"/>
                </a:solidFill>
                <a:latin typeface="Georgia"/>
                <a:ea typeface="Georgia"/>
                <a:cs typeface="Georgia"/>
              </a:rPr>
              <a:t>~1.7M kg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84616-E6BB-4EEC-9351-96C394DE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2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Reported in 2026 coverage citing DTI/CNN; product mix not disclosed.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69B69-FEDE-49A3-9DFC-EDC9365B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F27C1-0E17-4D41-872A-751A2ACE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9A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99A4A"/>
                </a:solidFill>
                <a:latin typeface="Aptos"/>
                <a:ea typeface="Aptos"/>
                <a:cs typeface="Aptos"/>
              </a:rPr>
              <a:t>Known destination signals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D8D9F-AAD9-4972-A69F-F7555589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90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38A309-C625-4D01-B15D-5785336E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241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United States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74C9F-9200-4EC1-8F28-E8DDA432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48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FD1ACE-FC28-4296-8BEF-80C8B0AF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United Kingdom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5CD394-4462-4DA1-844D-44C6E12A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05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0BF1D4-EB7D-4FFC-B7FB-C7657EF8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385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Italy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694007-3CEA-4B20-A10A-677B08D2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62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B4547-FB4F-48B3-8005-C69D5B9C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957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Middle East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CBA67-51A4-49CD-ACC2-819B098A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19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7786D9-1E87-40DF-8A5D-9733BB18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528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Japan / Europe case shipments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46BB9B-7DBA-4886-940A-6585E50A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14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AF989B-9C28-4330-B593-439A9CA5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45D75D-064C-4EEC-82E1-D06A9AD7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05400"/>
            <a:ext cx="883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Most important missing data: DTI has not publicly split the US$3.06M by powder, puree, halaya, extract, frozen/grated ube or finished foods.</a:t>
            </a:r>
          </a:p>
        </p:txBody>
      </p:sp>
    </p:spTree>
    <p:extLst>
      <p:ext uri="{BB962C8B-B14F-4D97-AF65-F5344CB8AC3E}">
        <p14:creationId xmlns:p14="http://schemas.microsoft.com/office/powerpoint/2010/main" val="10698522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7310E3-6B6A-487E-93C4-9499C80F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951BF-51EC-4EFB-82D3-4DC9BC0E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64885-3163-4935-B4A3-D19DB426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Source: ABRAMS / UN Comtrade summary, HS 071430 yams, 2024.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CBE0C-D4AB-4D78-B280-B6CD38F2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22CAF-D988-4A68-9AFC-27D49350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3B984-5132-42B6-BFF4-0AEF58AF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GLOBAL YAMS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06635-BD7C-4E22-8998-A1356970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04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Official yam exports are about US$104M, but the leaders are not necessarily ube leaders.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A8073-06C0-4AA8-AA4A-CD9443D0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HS 071430 captures Dioscorea yams broadly, including Caribbean, African, Chinese and other yams.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7237A-922D-4F9D-8EFB-62836509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638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EDB87-C55D-4B37-BC0B-623300CB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638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7B608-BB3D-4F2B-923B-844DD528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574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Jamaica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0B575-4B04-4C0C-A490-87133585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57450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873F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5F873F"/>
                </a:solidFill>
                <a:latin typeface="Georgia"/>
                <a:ea typeface="Georgia"/>
                <a:cs typeface="Georgia"/>
              </a:rPr>
              <a:t>$26.6M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A5122-992E-4503-B206-15C88909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1462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2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25.5% of visible global HS 071430 export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CD320-04B6-453A-9D08-4346870C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638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CAD27-7384-4BCF-87D2-B56BD9C7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4124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86971-D621-42F2-A908-87E5EE21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432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China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634A4-854B-47C1-A9A2-738EAAB6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7A78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177A78"/>
                </a:solidFill>
                <a:latin typeface="Georgia"/>
                <a:ea typeface="Georgia"/>
                <a:cs typeface="Georgia"/>
              </a:rPr>
              <a:t>$17.2M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51E0C-535C-4686-9B21-1DBF3186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042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2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16.5% of visible global HS 071430 export value.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B15D0-E569-4617-BE31-880FFDD2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638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12791-BDCF-47D4-93A2-BDE2482B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A99E6-6762-40E9-BA72-4F30E871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290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Colombia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C9978C-D5A8-4F87-9950-E07B4E04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9A4A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B99A4A"/>
                </a:solidFill>
                <a:latin typeface="Georgia"/>
                <a:ea typeface="Georgia"/>
                <a:cs typeface="Georgia"/>
              </a:rPr>
              <a:t>$7M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133427-6D13-4E27-8619-7AE1E7DD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8622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2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6.7% of visible global HS 071430 export value.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89F92-6B50-4D05-80EE-806A4270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638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B29E0C-43D6-41A4-81EC-DB5B8890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1533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B485FE-A7D2-483F-A3C1-6CC6C98F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148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Brazil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574155-8ABD-4A54-AA08-0B0BE03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14850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5F38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B95F38"/>
                </a:solidFill>
                <a:latin typeface="Georgia"/>
                <a:ea typeface="Georgia"/>
                <a:cs typeface="Georgia"/>
              </a:rPr>
              <a:t>$6.4M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349D0B-3874-4ED8-A501-EC083517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2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6.1% of visible global HS 071430 export value.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1AF4E3-5662-463D-AD81-A1C710DE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638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F96E2F-BDF3-4176-9A27-5E0C7B7D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314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086BBD-1A63-43C9-AA43-9E71EB8F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006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France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C2EB07-E738-4989-9288-E1FB62A8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00650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5C7D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C85C7D"/>
                </a:solidFill>
                <a:latin typeface="Georgia"/>
                <a:ea typeface="Georgia"/>
                <a:cs typeface="Georgia"/>
              </a:rPr>
              <a:t>$1.3M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8A779A-7212-40CE-A195-2B696904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2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1.2% of visible global HS 071430 export value.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AEEF97-14E4-48CA-A96E-D8B74DF4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813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C20507-83C5-4C81-8604-FD978427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813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9B3B64-B17B-4384-B78E-CD3AED21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933700"/>
            <a:ext cx="2171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Do not call this 'global ube exports.' It is the official adjacent root category that proves there is an international yam trade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2317071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FCDD9B-29F5-4D34-8937-19895D24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56D21-3278-4ECE-8CE3-511900C7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E6A55-0903-4B10-A675-F7233DAE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Source: WITS / World Bank Comtrade, HS 110620, 2024.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C2D5C-BE04-4D15-A70C-EEEB6028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4DFB0-8B0F-4F52-B48C-302E060F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AF6D0-C9D9-4A37-AC6F-4FB01318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POWDER POOL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73315-5739-4798-9607-D6B55B23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04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Root/tuber flour exports are larger than yam exports, but mostly not ube.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62FBF-4B7A-4D57-A3E4-71AB1F1F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HS 110620 is the closest powder proxy for ube powder, and it reached about US$134.4M in 2024.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7A43E-4290-40EB-B9EF-5B35D186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Exporter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19291-BDD8-4C20-9A43-3D95B894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43125"/>
            <a:ext cx="904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C54F0-846C-401B-AAF3-B6A82682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431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Volume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C6870-6D4E-4B84-82B7-6F095837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43125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Share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202B8-6EFA-4D4D-90D3-F7306AB7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84FB2-C8CB-4885-81FE-C212C1E2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E16EB-F01C-4E2E-AB5A-71FD9862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47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2F317-84BE-4515-8FF1-2792F722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Peru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4AAF6-5B3E-493F-9ECF-13D02D9D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904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$25.56M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EC4CF-8369-434C-B58E-EBD4511E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3,408 MT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BF653-6AF5-4B3D-B962-15BB3F6C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955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19.0%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AF3CA-C321-42A0-97E6-2802EA10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High-value specialty root/tuber flour signal.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5A7F13-CC18-4BB4-A2FC-2D03F712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D0799E-706C-4B14-8F0F-8698DC51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Thailand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31AD6-F844-4ABF-95A4-0505568B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57500"/>
            <a:ext cx="904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$25.54M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690ED5-3D1D-4465-A48E-7DEA2DC5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47,141 MT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D249F2-443E-4E35-A8C8-448AF9DE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575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19.0%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B823C-0E8E-4305-8F3F-8D8A6C32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Large-volume cassava/tapioca-adjacent processing base.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24879F-F7E8-4979-B6EE-954272C9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41B20B-429C-460F-AB71-04DDB956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United States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1DE8E0-18F3-4195-87E0-36E552DE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904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$11.44M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E0518A-01E2-4800-9AEF-8D2EE1F5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194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6,788 MT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B8C69B-AD96-46EA-A7DC-19D81811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19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8.5%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C6FC3C-40E1-4967-A35B-FD58B8F3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Re-export / specialty ingredient trade.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02A16-FFE0-448A-9CE3-1A8F0D39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D9A7F1-146A-4B67-86D7-9A458CE9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Brazil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6775DA-398D-444C-9C87-725EC0CC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81400"/>
            <a:ext cx="904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$10.86M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2EAFB6-071C-4D50-83E7-7B6F2DB5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814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9,113 MT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620448-DC4E-46B1-B7E5-A6597E13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814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8.1%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25FD36-C51E-4392-8167-9222F7B5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Root crop processing and regional trade.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B422E5-9674-4301-97FD-2DE886B4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CC05A7-F1E3-4854-8ED2-300DDBAC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Netherlands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83FB5B-BCD5-44AF-9AB5-630685DF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43350"/>
            <a:ext cx="904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$7.69M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99D789-27B1-4596-96A8-0F4AB016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43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2,480 MT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567A8A-B724-45FC-BA9B-381062D8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433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5.7%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F95761-3206-476A-B37D-4DD898FA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European trading and redistribution hub.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871A9D-9D0F-46D2-8A7E-DF342EB8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3A5095-D739-46E3-BEFF-7D9E91F1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Nicaragua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DB0334-B781-4C9C-B4CE-9F2FF9E4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05300"/>
            <a:ext cx="904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$7.47M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936EA9-49B5-4031-9F5F-DBECEDAA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5,696 MT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3BAA7E-3FF6-4508-8B23-2A016421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053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5.6%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E266C3-AC4F-48E0-A3DF-F2E5C4DD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Root/tuber flour exporter.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3923B17-FFD6-41B5-B4C1-2C012D9C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7AF124-B3C4-437A-A943-685270D9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EU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CC13F0-F990-45DE-8BD0-E8CE8F90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67250"/>
            <a:ext cx="904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$7.00M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70D832-AB2F-41EA-8A3B-C4AEC2B5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3,404 MT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1250FD-67C2-4EE5-AAD0-9EA4C2CA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672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5.2%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FC7D02-854D-4DC0-B617-5810CD61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Reported bloc activity.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B95158-9A4A-434B-8055-9121F89D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E9597B-C61D-44C5-98A8-37B63D60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China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8398FB-3F38-4637-9409-4D971E4C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29200"/>
            <a:ext cx="904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$6.50M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10A6F9-1A40-4FF4-907D-D58F4B42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292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1,995 MT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A352B6D-2028-49FB-A8E8-6532A500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292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4.8%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16B843-BFD9-44BC-A2C6-7B273A56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292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Asian processed-root exporter.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ACF94F-C3D9-4EEA-89AC-A6E06353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84D963-2090-47F5-A76B-D9EA380E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816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25F5F03-8419-40B7-BC1E-5C56CB8F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816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9F1148-2B8C-482E-A4AA-AA80EFC2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34050"/>
            <a:ext cx="864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Philippines reported only about US$98k under HS 110620 in 2024, which proves ube powder is likely being coded elsewhere or is still very underdeveloped.</a:t>
            </a:r>
          </a:p>
        </p:txBody>
      </p:sp>
    </p:spTree>
    <p:extLst>
      <p:ext uri="{BB962C8B-B14F-4D97-AF65-F5344CB8AC3E}">
        <p14:creationId xmlns:p14="http://schemas.microsoft.com/office/powerpoint/2010/main" val="1867537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B84FD-44FC-4F24-90CB-BE7722AD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87998-EFD2-4B6A-BF07-0CF458AF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9E085-4DFE-4634-AE25-6E0FF98E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Sources: DTI, WITS / World Bank Comtrade, ABRAMS / UN Comtrade, Exim, Volza, Tridge.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3578B-8D54-4C7E-88E9-185D1F1A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2E98A-27CD-4CB2-8645-FD795EE8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CF5F6-24B3-44D1-887D-16B6F09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PRODUCT 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0B6ED-1CA3-4224-A24D-7BEF1041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04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Current ube exports are probably heavier in frozen/paste/jam, while powder wins strategic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F9399-84E2-422D-A676-005E1486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No official product-form split is public, so this is an evidence-weighted interpretation.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4672F-1E22-42F1-8F85-CFFAF1C3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1FD7F-1CEB-4E80-B0D7-29B68648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526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Likely current share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F9C09-415B-4CAA-B7C9-5FF10437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5262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56362-B95B-4EEC-AD32-A73D49D7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52625"/>
            <a:ext cx="3762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BC845-8CB7-481A-9376-1478F240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Strategic attractiveness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0E2DE-6F4D-4C89-9DC4-F3363904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A21A9-AA1F-45D3-A3A9-CFE57AD2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Frozen / grated / puree / paste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D7F3A-F9AE-4248-BB08-A07AAF47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431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High by volume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9FF51-2A5E-4C86-8FEF-7C3F8870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47B52-4E7E-4796-BE1F-30290E17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4315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Heavier products already move through Filipino grocery and foodservice channels.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D3788-EF9F-43DC-BA63-BB8FBC34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431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2FA3F-CD69-4601-BA04-04CA950A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747BC-3AC0-4FB5-BC63-C15D5B24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05B68-F330-4F1B-9F39-AB6B79AF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Powder / flour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D05693-F04B-4919-A899-DFE0B457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High by value; early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30986-692E-4DB0-A737-1950F562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9284A9-CF42-4CC2-A8C6-5A03798E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5750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Shelf-stable, B2B-friendly, easier to sample, test and standardize.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D75C06-A288-46FC-9A77-5641A940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Very high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B3B158-69DC-4807-A5B2-991EC75B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4FB49D-1DA9-4443-AE22-D0B2F927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CD1475-40BA-465D-95F0-501FF0CA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Halaya / jam / spread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AD78DC-F73B-4A38-A305-18635BB5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Meaningful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86BBBA-62C2-4FC6-A74A-AF5BB68D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718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57A572-C76D-40A0-B1D3-C208D04E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7185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Visible in sample shipment records; more retail/ethnic-channel and heavier due sugar/water.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BBBFC8-8DC2-49C7-9AC7-1EC98B41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718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D6A99E-9597-4863-855A-115CC6B3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7B539D-B602-4099-8CFC-4EA494ED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56D5E7-32C0-4148-A99E-7F13DDD4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Extract / flavor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BC972E-A8E6-4636-8797-73893A16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Small niche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B4ACDF-04D2-4C0C-BC82-6C43F26A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Low-medium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47292D-7539-4C07-A9E2-B45D4424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8620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Demand exists, but codes are broad and many products are not pure ube.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5F87F7-6098-474C-BEF5-1DA20354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862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D634F1-DA9E-4D62-B822-B5BC3725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489A75-F266-4D30-B269-FE2FE52A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F38FDF-D162-4313-B948-14B712D1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Fresh whole ube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23ECDA-F790-4E8B-B9F1-AA4FBB37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00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6985B4-1669-41DE-868F-9E21215F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005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Medium-high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E410AA-5F46-42D0-9E76-996377AF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0055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Bulky, perishable and exposed to phytosanitary/cold-chain friction.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C296D7-E1C4-47A4-8E7D-7D36847C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005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0A55F4-F465-4300-AFBE-B8D83542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1B3719-BED6-4232-9A5F-45D20C66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B58B41-F69F-4EAF-A364-967E6651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Ube VCO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095EDF-FF7F-456B-AA5F-B4501A51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149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Tiny / unproven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1D54BB-A826-4360-B7BF-ED49B418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149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3F807D-B7CA-4E31-A365-3B961FA5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1490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Coconut oil exports are large, but ube-VCO is not a proven ube export category.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5ACFD1-EEEA-4907-939A-CD29BB8B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149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E19869-CCB1-4466-97B7-1DAC8CB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1E5F8C-CFD9-4D96-A5DB-A2160B41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67877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A07B7A-29F8-46E0-ADF3-65AA41F7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D1CF5-F1D6-42F5-849A-EA3C50E6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FC914-75C0-4E01-9ABA-4457435F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Sources: DTI, WITS / World Bank Comtrade, ABRAMS / UN Comtrade, Exim, Volza, Tridge.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CCF98-D364-4A7A-9543-61C433F1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4D467-7484-4337-9FCD-91841A61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89D5C-CE41-485D-A73A-7DCF3EBC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TWO RANKINGS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F052B-6506-4258-BAB5-9A872769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04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The biggest current form is not necessarily the best flagship.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C43E0-F6DA-4BA4-9760-0428BD9F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Volume, value and strategic leverage point to different product priorities.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3D3AF-DE32-4863-8039-4863A7B6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4667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C3B04-DF1B-47BB-9FA4-84550733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466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5EB7C-8DCC-4D31-8718-CB66FB73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436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F873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F873F"/>
                </a:solidFill>
                <a:latin typeface="Aptos"/>
                <a:ea typeface="Aptos"/>
                <a:cs typeface="Aptos"/>
              </a:rPr>
              <a:t>Likely current Philippine export volume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18099-8819-44D9-916B-D890D051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14625"/>
            <a:ext cx="436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Heavy processed forms lead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3E58C-025A-4770-8997-821301BD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4362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1. Frozen / grated / puree / paste</a:t>
            </a:r>
          </a:p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2. Halaya / jam / spread</a:t>
            </a:r>
          </a:p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3. Powder</a:t>
            </a:r>
          </a:p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4. Extract / flavor</a:t>
            </a:r>
          </a:p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5. Fresh whole ube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92248-EDA6-4B4D-BAD4-B8C27BDB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667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743AC-E328-4F44-B882-E3C562E1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66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3BC83-7A10-4E28-9C27-758025EE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57450"/>
            <a:ext cx="436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Best export business attractiveness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56779-3C12-442E-AA93-D43FED0D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14625"/>
            <a:ext cx="436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Powder should lead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47681-B996-460C-9DF3-CB0D2A16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0400"/>
            <a:ext cx="4362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1. Ube powder</a:t>
            </a:r>
          </a:p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2. Frozen puree / grated ube</a:t>
            </a:r>
          </a:p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3. Foodservice ube base / paste</a:t>
            </a:r>
          </a:p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4. Halaya / jam / spread</a:t>
            </a:r>
          </a:p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5. Extract / flavor concentrate</a:t>
            </a:r>
          </a:p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6. Fresh ube</a:t>
            </a:r>
          </a:p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7. Ube VCO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A6499-668A-4052-874A-3EF90FF0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67350"/>
            <a:ext cx="866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7629C-09B1-47DD-8219-49BD0D10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673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8747E-DD01-4E01-A512-70685E4D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19750"/>
            <a:ext cx="836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For Vera: use raw trading and frozen/paste relationships to learn supply, but build the investor story around export-grade powder.</a:t>
            </a:r>
          </a:p>
        </p:txBody>
      </p:sp>
    </p:spTree>
    <p:extLst>
      <p:ext uri="{BB962C8B-B14F-4D97-AF65-F5344CB8AC3E}">
        <p14:creationId xmlns:p14="http://schemas.microsoft.com/office/powerpoint/2010/main" val="10104824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94B292-A8C2-45D8-BBEC-2DC280F0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96878-B443-4B29-BE25-7BD8AC61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93217-EC50-4D07-9119-BB27D4DB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Sources: ABRAMS HS 071430; WITS HS 110620; Volza/Tridge/Exim directional purple-yam signals.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13D5E-BC85-42EC-A609-DDE32AB5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5FFDE-F924-4910-988B-54799898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8A510-71B8-42F2-B41F-FE7F4770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EXPORTER COUNTRIES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0ABE5-31D1-4E6C-A4F3-D7AAEF98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04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There are three different exporter maps, depending on what 'ube' means.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D49C5-9FB5-4D97-9F09-927FDBBF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The Philippines is the authenticity leader, not currently the volume leader.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74E66-33D0-4FE2-B19D-066FA37D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86E03-E8CB-4AF3-9FCD-CC77F808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EE975-C04F-4657-8CDE-5DCC97DD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09825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F873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F873F"/>
                </a:solidFill>
                <a:latin typeface="Aptos"/>
                <a:ea typeface="Aptos"/>
                <a:cs typeface="Aptos"/>
              </a:rPr>
              <a:t>Official yams | HS 071430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6D55F-0858-453B-B3A8-8356A90F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6700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Jamaica + China lead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45A97-B289-4243-B125-5AB12F88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52775"/>
            <a:ext cx="2933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Top visible exporters include Jamaica, China, Colombia, Brazil and France. This is yam trade, not ube-specific.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44899-77C0-4448-9E30-2AEB7799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53CA8-0C45-40D2-8947-BE4DB818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6D709-F085-4712-BBCA-1B3E9098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9825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77A7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177A78"/>
                </a:solidFill>
                <a:latin typeface="Aptos"/>
                <a:ea typeface="Aptos"/>
                <a:cs typeface="Aptos"/>
              </a:rPr>
              <a:t>Root/tuber powders | HS 110620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DED2C-9908-4130-B692-9111D7EB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6700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Peru + Thailand lead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EB6D6-70A8-4D00-A630-E08947F8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52775"/>
            <a:ext cx="2933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Top exporters include Peru, Thailand, US, Brazil, Netherlands, Nicaragua, EU and China. Mostly not ube.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56555-5F9C-40D9-BACB-58D1B6FE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38375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6D638-17D6-4C71-A124-920A5E00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38375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E6E9F6-6C4F-4296-8145-4AB9FC91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09825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Purple-yam shipment signals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EC0E4-F142-42EE-B9A4-D9448707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6700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China + Vietnam show volume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678C81-95D6-40D3-B82B-9DF31850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52775"/>
            <a:ext cx="2933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Public shipment databases indicate China and Vietnam appear strong in visible purple-yam shipments; Philippines is smaller but premium-authentic.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27F02C-F8E3-488E-AE78-8A7077EE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19700"/>
            <a:ext cx="962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3C2F7-DA89-4225-A914-3629EB15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197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41448-C714-46D4-833B-3EC71E0F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72100"/>
            <a:ext cx="931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Strategic read: Vera should not compete as the cheapest purple-root supplier. It should compete as verified Philippine-origin ube with supply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5287967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73CA2C-72E2-4278-A93F-95C21057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A2817-E6DF-41F7-A001-94F6D6A0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0915D-3275-4C42-97D5-A7311A1A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Sources: Exim sample shipment records; WITS/ABRAMS HS-code definitions.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EC307-1B30-4CF1-8E1C-4474F82F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C9853-E7B2-4C3D-B637-0A7A6A0E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6957C-8B60-452E-8EA8-4603EA7A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CLASSIFICATION LEAKAGE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6FD71-E2C0-488F-A6B2-F2A6A8EB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04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Even real Philippine ube products appear under multiple HS codes.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F44A7-D7AD-41BA-B58C-ABC58D48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This is why form-share estimates require line-level shipment classification.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A0F78-395D-48FD-9A7D-1F701AD3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Sample product description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CDC8A-8F3E-44FB-8886-0068F844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Example destination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FFA58-69FB-4E39-BEEA-E04F9541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Code shown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72684-2DF4-4BB5-A8E1-CBC46FD3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What it tells 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EE024-E88E-4E7D-932B-6881985A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720CC-BC6B-4500-9CFF-B8EEACE3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Jonas Purple Yam Ube Spread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4E858-A125-433E-B012-E4E47383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Canada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35322-31B0-4191-BD1B-89B904E1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336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07143010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54289-AAB8-427D-8391-32407404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Prepared spread can still be declared under a yam code.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B8BDE-757F-4141-9485-1831CA60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B629C-7B3E-498C-9678-BF9D249C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Buenas Grated Purple Yam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F6C72-3056-455F-AB2A-A08E610E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Kuwait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C3FC3-2B19-4C5F-80E4-7539FFBA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07143010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FFB54B-F0F5-49D9-8651-DB0F76BD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990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Grated/frozen forms may remain in yam bucket.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CB4732-CF69-41F8-AAF4-3330981F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3B97F-2440-48DF-92F5-C185E954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84D46-5201-4CC9-AC4C-143B15D3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Giron Purple Yam Powder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124788-2871-4371-A8DF-7585F173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USA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0385EF-828A-44DE-89A4-12FD226E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861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07143010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424A22-8DF2-478D-9CCC-3111DD83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Powder may not always appear under flour code.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CD5DDC-AB98-4DD1-88D6-6E14FEAE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BD9414-5268-43B3-B42C-B23E7D78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Purple Yam Jam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7448A8-26BB-40F8-BD77-67CEFD27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USA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09FC3-4B6A-4B5A-9915-DCFB636A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6240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20089940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8A5404-B5FC-4561-A3A6-63CF2F00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Jam can move to broad prepared-food categories.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6686BC-9F4A-4517-8CD1-20B9E2A4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0B3962-6E84-4104-ADDB-6211BA18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Kapuso Grated Purple Yam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B6FAEE-C07B-48BD-9080-6E91D81A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38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New Zealand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F885CF-D42C-47F6-A6CF-99FC300E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386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07143010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4EE894-4A6B-4532-8E53-A22103F0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Form split is hidden without descriptions.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3375B3-CB1C-4233-BF12-974193BC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53A84F-5D51-4C21-85D7-01495487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DE6CF5-400B-4ECE-9ABD-F3F3FD3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093398-606A-480A-8426-82678F7A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562600"/>
            <a:ext cx="902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To answer product share precisely, buy/export a customs extract and classify descriptions manually into powder, puree/grated, halaya/jam, extract and finished-food buckets.</a:t>
            </a:r>
          </a:p>
        </p:txBody>
      </p:sp>
    </p:spTree>
    <p:extLst>
      <p:ext uri="{BB962C8B-B14F-4D97-AF65-F5344CB8AC3E}">
        <p14:creationId xmlns:p14="http://schemas.microsoft.com/office/powerpoint/2010/main" val="1185745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4A4F30-824A-4773-919A-36E16A8F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D17D8-44C1-4637-B6B4-A0CC7CAE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E2EE0-8DF0-46E7-83B2-1845BD56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Sources: DTI, WITS / World Bank Comtrade, ABRAMS / UN Comtrade, Exim, Volza, Tridge.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CDC60-3F8D-477D-9EC6-5B553D9A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B5D94-CF07-4637-8B23-8D6BAE38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449CA-5501-4EB1-9494-40BA5713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VERA STRATEGY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1E4D6-276F-44DA-B26D-A7E13940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04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The opportunity is to organize a premium Philippine supply chain before larger players 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1B2B1-A4EE-4149-9D84-57CB621B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Do not overclaim the market. Out-execute the messy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C821C-6EE7-468D-B094-F29CD46B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762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07DBF-A4AD-4F72-891F-DC56A4D2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873F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5F873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41063-E01D-43B8-BC7C-00048CF1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Learn supply through local raw trading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97855-B02E-458E-A40F-3DB21437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Track price, quality, seasonality, shrinkage and farmer reliability.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9243B-DD8A-401A-83B6-CDDED540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1762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AFDE8-DFE3-4F40-A699-9FD79906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43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7A78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7A78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01683-3DA0-42B0-AF3C-EF724B0F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1945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Build frozen/grated/puree relationships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D36FA-09F9-4640-9D41-E6DC47D5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0525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These forms likely already move; use them as processor and buyer bridges.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3E0AC-0429-4B41-BB5F-4A007388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762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E57BB-74EF-4856-9A1C-094C00CB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F3CA5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6F3CA5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AD476-847C-4D0B-8276-96B5D518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1945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Launch powder as flagship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65C97-AA13-425C-B199-B7D77CBC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0525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Best shelf-stable B2B format for samples, specs, COAs and repeat formulation.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1CE6E-7EF7-4272-90AC-5A2F565B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1762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272501-C03A-4C7C-908E-C0EBC1F4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43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99A4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B99A4A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5EE0C3-0A7D-440D-848C-14711C76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1945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Add foodservice base/paste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48FA47-E68B-436D-9E9F-F79D145C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0525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Use buyer feedback to create a thicker cafe/bakery/ice-cream product.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5FD53-6060-4CC2-905A-93D39FAC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71750"/>
            <a:ext cx="1762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C69533-F256-4FA8-A10F-0D40CF35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432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95F38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B95F38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4E0CE7-6688-48C2-891E-5FE01C1D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1945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Keep VCO, halaya and extracts later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5BC400-A480-46A9-8970-525267CF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0525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Use only when there is channel proof or a specific buyer request.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71B8A1-44D3-4F0A-9A65-2CDEEC54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19700"/>
            <a:ext cx="866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FA5134-E639-4452-B429-1A1F5D38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1970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35B181-8B33-4E7E-BCB0-D720B765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72100"/>
            <a:ext cx="836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Investor line: we are not creating the ube trend; we are converting fragmented Philippine ube into a verified export ingredient platform.</a:t>
            </a:r>
          </a:p>
        </p:txBody>
      </p:sp>
    </p:spTree>
    <p:extLst>
      <p:ext uri="{BB962C8B-B14F-4D97-AF65-F5344CB8AC3E}">
        <p14:creationId xmlns:p14="http://schemas.microsoft.com/office/powerpoint/2010/main" val="21260695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6831CF-78F3-4261-876F-749B8F86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7CE07-5CDB-4588-BAC4-6286EF2A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1C027-0C37-4B18-8D1E-0628AEF5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Sources: DTI, WITS / World Bank Comtrade, ABRAMS / UN Comtrade, Exim, Volza, Tridge.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5C674-9C80-4D8D-A54C-FC91A0E1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D4DCE-A402-460F-8A8B-6C2EA2F8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82AC7-7B9B-4836-8C95-1FD41C21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3CA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F3CA5"/>
                </a:solidFill>
                <a:latin typeface="Aptos"/>
                <a:ea typeface="Aptos"/>
                <a:cs typeface="Aptos"/>
              </a:rPr>
              <a:t>RESEARCH AGENDA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C9428-28B3-4B56-B0E4-72F10DC0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04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The next diligence step is a paid shipment-level extract, not another market-size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C0C2D-8E28-47BC-920D-25DDF532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7616D"/>
                </a:solidFill>
                <a:latin typeface="Aptos"/>
                <a:ea typeface="Aptos"/>
                <a:cs typeface="Aptos"/>
              </a:rPr>
              <a:t>This is how to turn the current estimate into a defensible investor appendix.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7EF72-11EE-43B2-9737-DF08C442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Data pull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A95B0-66AE-472D-90F3-BFD4346A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Search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34CAA-4360-4827-A1D5-5D66DE0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Fields needed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E58D2-8603-4DDC-8AFE-CE68A078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Decision it supports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2FC14-85AC-4EB9-83FA-70E8B2C3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7B7E3-18DD-4A9D-88A6-8F977364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524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Philippines exports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202F9-8DE9-4251-8A00-28A90B87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09850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ube, purple yam, Dioscorea alata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35632-1835-4031-B749-91A27E21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2667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Exporter, buyer, HS, value, kg, product description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254F3-8B82-478D-B806-D86C92D6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09850"/>
            <a:ext cx="2667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True Philippine product-form mix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8A824-6C88-45DB-B663-360EE591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659CE-8DCA-40B1-B067-4B4B471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524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Global purple yam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197D4-68CE-48A5-A0C0-3C017B58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05150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purple yam, yam powder, ube powder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D25D37-8BDF-4DC5-8129-4C4BDDCB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2667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Origin, destination, values, weight, importer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2DF6C-9112-4F91-B86D-AA8C5E43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05150"/>
            <a:ext cx="2667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Top real exporter countries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3BA43-04B8-4CF6-9510-9E9986E2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BE6E25-7AB8-4DB1-8CB0-F9B08BCE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524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Powder codes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43A66-C5B8-4719-BEE2-D6789113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0450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110620 + descriptions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5DFD13-F4B3-4D1E-B934-557F2D9D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2667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Product text and ingredient terms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D2E129-7970-4F2C-979E-85DC94D2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0450"/>
            <a:ext cx="2667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How much powder is actually ube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50A955-5A72-4846-B447-401879C2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52F055-3F01-46FF-ACF3-62AA22CE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524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Prepared products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24F10B-A9CB-4311-8B77-5F610E52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halaya, jam, spread, grated, puree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52E4D5-3377-4F04-9ECF-65EA35A1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2667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Brand/exporter/destination/channel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E97FE-A22B-4224-B9DD-420F6FC2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95750"/>
            <a:ext cx="2667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Retail vs B2B opportunity split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5BFF0D-04E0-4EB8-90C2-D7C6706D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1B7911-32AD-4DDA-AD1F-839C6BC8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524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172E"/>
                </a:solidFill>
                <a:latin typeface="Aptos"/>
                <a:ea typeface="Aptos"/>
                <a:cs typeface="Aptos"/>
              </a:rPr>
              <a:t>Buyer universe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2A4D3F-DB8A-4920-8772-4D284F46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importers, cafes, ingredient buyers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492474-156B-40C9-8BAF-A53E51B5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2667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Repeat buyers, order size, reorders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F40A4B-A0D2-474F-BC72-B132A554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91050"/>
            <a:ext cx="2667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3172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3172E"/>
                </a:solidFill>
                <a:latin typeface="Aptos"/>
                <a:ea typeface="Aptos"/>
                <a:cs typeface="Aptos"/>
              </a:rPr>
              <a:t>Where Vera should sample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6805AA-07F5-440E-B33F-D1CFDD38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C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4E2342-F31E-48D3-BB5E-EBD418DA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CB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B1E528-FBB7-4C2B-AF65-5ADD6B5E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21A58A-95A6-473B-BE07-9A89962B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95950"/>
            <a:ext cx="864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172E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23172E"/>
                </a:solidFill>
                <a:latin typeface="Georgia"/>
                <a:ea typeface="Georgia"/>
                <a:cs typeface="Georgia"/>
              </a:rPr>
              <a:t>Use this extract to create a real product-share chart. Until then, present form shares as 'best current interpretation,' not as official fact.</a:t>
            </a:r>
          </a:p>
        </p:txBody>
      </p:sp>
    </p:spTree>
    <p:extLst>
      <p:ext uri="{BB962C8B-B14F-4D97-AF65-F5344CB8AC3E}">
        <p14:creationId xmlns:p14="http://schemas.microsoft.com/office/powerpoint/2010/main" val="181869060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D69BB6-DE73-40E8-A7FF-B6ABDA2A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E9D79-CDFE-4411-B3F8-2D6C80EC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285AE-C30C-44D5-9A09-E983B73C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C8BCCB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C8BCCB"/>
                </a:solidFill>
                <a:latin typeface="Aptos"/>
                <a:ea typeface="Aptos"/>
                <a:cs typeface="Aptos"/>
              </a:rPr>
              <a:t>Source notes prepared May 2026; refresh before investor circulation.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C70AE-6F52-4A83-8E54-25DC0164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D9C48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9C48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568B9-6653-4250-96A1-ECBB0960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E1F41-E779-4AA1-A48A-7B7AAAD9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4C3D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4C3D8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C7164-173F-4155-B014-070AAB36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38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EFE5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F7EFE5"/>
                </a:solidFill>
                <a:latin typeface="Georgia"/>
                <a:ea typeface="Georgia"/>
                <a:cs typeface="Georgia"/>
              </a:rPr>
              <a:t>Research notes and disclosure language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30545-F8B5-4FD2-8272-8B3801A2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CFD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CFDC"/>
                </a:solidFill>
                <a:latin typeface="Aptos"/>
                <a:ea typeface="Aptos"/>
                <a:cs typeface="Aptos"/>
              </a:rPr>
              <a:t>Use these as the source spine for any investor or partner conversation.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2603D-9276-44E3-8B42-B49DA6A9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3C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076C6-406A-4DE8-BFE3-4EEA4623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942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2E9F4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2E9F4"/>
                </a:solidFill>
                <a:latin typeface="Aptos"/>
                <a:ea typeface="Aptos"/>
                <a:cs typeface="Aptos"/>
              </a:rPr>
              <a:t>DTI via BusinessMirror / Xinhua: Philippine ube + ube-based exports reached about US$3.06M in 2025.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10F93-AC31-4E38-ACCA-9CB1045D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F4124-852E-41F2-85E7-F1017B3E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942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2E9F4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2E9F4"/>
                </a:solidFill>
                <a:latin typeface="Aptos"/>
                <a:ea typeface="Aptos"/>
                <a:cs typeface="Aptos"/>
              </a:rPr>
              <a:t>Rolling Stone Philippines / CNN discussion: almost 1.7M kg of ube products exported, citing DTI/CNN reporting.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238FF-A225-4A45-B38D-5BCA2762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FDD9B-FAFC-4F49-B104-08E331F2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942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2E9F4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2E9F4"/>
                </a:solidFill>
                <a:latin typeface="Aptos"/>
                <a:ea typeface="Aptos"/>
                <a:cs typeface="Aptos"/>
              </a:rPr>
              <a:t>ABRAMS / UN Comtrade summary: HS 071430 yams exports about US$104.23M in 2024.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E1A99-57BC-4AE2-982A-E8A7C274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9A507-A10F-459B-B4A9-51AA15BD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942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2E9F4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2E9F4"/>
                </a:solidFill>
                <a:latin typeface="Aptos"/>
                <a:ea typeface="Aptos"/>
                <a:cs typeface="Aptos"/>
              </a:rPr>
              <a:t>WITS / World Bank Comtrade: HS 110620 root/tuber flour exports about US$134.4M in 2024.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A5AE8-A6EA-444A-8899-593021FC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51A27-03D1-4DD9-B46C-016576ED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942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2E9F4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2E9F4"/>
                </a:solidFill>
                <a:latin typeface="Aptos"/>
                <a:ea typeface="Aptos"/>
                <a:cs typeface="Aptos"/>
              </a:rPr>
              <a:t>Exim sample records: Philippine purple yam products appear as spread, grated yam, powder and jam under multiple codes.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465533-B220-46B0-9FA7-42A123E1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774EC1-270D-44A9-B1AC-64098E3C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942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2E9F4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2E9F4"/>
                </a:solidFill>
                <a:latin typeface="Aptos"/>
                <a:ea typeface="Aptos"/>
                <a:cs typeface="Aptos"/>
              </a:rPr>
              <a:t>Volza / Tridge: directional shipment and transaction signals for purple yam / dried yam exporters and prices.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DD427-2D4F-4AA1-8F5B-C5609E4B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7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05E929-5A71-4644-A677-D755BC23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942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2E9F4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2E9F4"/>
                </a:solidFill>
                <a:latin typeface="Aptos"/>
                <a:ea typeface="Aptos"/>
                <a:cs typeface="Aptos"/>
              </a:rPr>
              <a:t>Disclosure: no official global HS code isolates ube. Product-form shares require line-level shipment classification.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92E3DA-387F-4948-B59C-28E37D78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EFE5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F7EFE5"/>
                </a:solidFill>
                <a:latin typeface="Georgia"/>
                <a:ea typeface="Georgia"/>
                <a:cs typeface="Georgia"/>
              </a:rPr>
              <a:t>Recommended investor phrasing: "Global ube demand is rising faster than verified Philippine-origin supply. The investable gap is traceable, export-grade supply."</a:t>
            </a:r>
          </a:p>
        </p:txBody>
      </p:sp>
    </p:spTree>
    <p:extLst>
      <p:ext uri="{BB962C8B-B14F-4D97-AF65-F5344CB8AC3E}">
        <p14:creationId xmlns:p14="http://schemas.microsoft.com/office/powerpoint/2010/main" val="1419064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2026-05-10T07:36:57.0350000Z</dcterms:created>
  <dcterms:modified xsi:type="dcterms:W3CDTF">2026-05-10T07:36:57.0360000Z</dcterms:modified>
</coreProperties>
</file>