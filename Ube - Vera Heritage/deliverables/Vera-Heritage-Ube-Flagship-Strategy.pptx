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c227cfc22c4c86" /><Relationship Type="http://schemas.openxmlformats.org/officeDocument/2006/relationships/extended-properties" Target="/docProps/app.xml" Id="R934e92c961b64d81" /><Relationship Type="http://schemas.openxmlformats.org/officeDocument/2006/relationships/officeDocument" Target="/ppt/presentation.xml" Id="Rbaf764d8949040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a4485bab054ed9"/>
  </p:sldMasterIdLst>
  <p:notesMasterIdLst>
    <p:notesMasterId xmlns:r="http://schemas.openxmlformats.org/officeDocument/2006/relationships" r:id="Rf2f0fd3058ba4d7e"/>
  </p:notesMasterIdLst>
  <p:sldIdLst>
    <p:sldId xmlns:r="http://schemas.openxmlformats.org/officeDocument/2006/relationships" id="256" r:id="Reb6c38382ef54463"/>
    <p:sldId xmlns:r="http://schemas.openxmlformats.org/officeDocument/2006/relationships" id="257" r:id="R7ea5884ec04447cd"/>
    <p:sldId xmlns:r="http://schemas.openxmlformats.org/officeDocument/2006/relationships" id="258" r:id="Rf9b252971df94005"/>
    <p:sldId xmlns:r="http://schemas.openxmlformats.org/officeDocument/2006/relationships" id="259" r:id="Rb0ae1a119fac4077"/>
    <p:sldId xmlns:r="http://schemas.openxmlformats.org/officeDocument/2006/relationships" id="260" r:id="Rf394fa73dbe0454c"/>
    <p:sldId xmlns:r="http://schemas.openxmlformats.org/officeDocument/2006/relationships" id="261" r:id="Rd18e878ebba648b3"/>
    <p:sldId xmlns:r="http://schemas.openxmlformats.org/officeDocument/2006/relationships" id="262" r:id="R67abd9b84e274834"/>
    <p:sldId xmlns:r="http://schemas.openxmlformats.org/officeDocument/2006/relationships" id="263" r:id="R3fea370453e148a0"/>
    <p:sldId xmlns:r="http://schemas.openxmlformats.org/officeDocument/2006/relationships" id="264" r:id="R3553897cbf434c3d"/>
    <p:sldId xmlns:r="http://schemas.openxmlformats.org/officeDocument/2006/relationships" id="265" r:id="R514d1d7815e940a0"/>
    <p:sldId xmlns:r="http://schemas.openxmlformats.org/officeDocument/2006/relationships" id="266" r:id="Ra03f3d4a1cf34c92"/>
    <p:sldId xmlns:r="http://schemas.openxmlformats.org/officeDocument/2006/relationships" id="267" r:id="R2995a887c20c4957"/>
    <p:sldId xmlns:r="http://schemas.openxmlformats.org/officeDocument/2006/relationships" id="268" r:id="R40c79cf90f4f468c"/>
    <p:sldId xmlns:r="http://schemas.openxmlformats.org/officeDocument/2006/relationships" id="269" r:id="Ra7a28b759e7f4a06"/>
    <p:sldId xmlns:r="http://schemas.openxmlformats.org/officeDocument/2006/relationships" id="270" r:id="Rad8610e73ff747fc"/>
    <p:sldId xmlns:r="http://schemas.openxmlformats.org/officeDocument/2006/relationships" id="271" r:id="Rd1a00a3f9cb9441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4485bab054ed9" /><Relationship Type="http://schemas.openxmlformats.org/officeDocument/2006/relationships/theme" Target="/ppt/theme/theme1.xml" Id="R909253ec44ac4944" /><Relationship Type="http://schemas.openxmlformats.org/officeDocument/2006/relationships/notesMaster" Target="/ppt/notesMasters/notesMaster1.xml" Id="Rf2f0fd3058ba4d7e" /><Relationship Type="http://schemas.openxmlformats.org/officeDocument/2006/relationships/presProps" Target="/ppt/presProps.xml" Id="R18af2b13789f4595" /><Relationship Type="http://schemas.openxmlformats.org/officeDocument/2006/relationships/viewProps" Target="/ppt/viewProps.xml" Id="R4988e505a17f4db0" /><Relationship Type="http://schemas.openxmlformats.org/officeDocument/2006/relationships/tableStyles" Target="/ppt/tableStyles.xml" Id="R216786c2f0a24185" /><Relationship Type="http://schemas.openxmlformats.org/officeDocument/2006/relationships/slide" Target="/ppt/slides/slide1.xml" Id="Reb6c38382ef54463" /><Relationship Type="http://schemas.openxmlformats.org/officeDocument/2006/relationships/slide" Target="/ppt/slides/slide2.xml" Id="R7ea5884ec04447cd" /><Relationship Type="http://schemas.openxmlformats.org/officeDocument/2006/relationships/slide" Target="/ppt/slides/slide3.xml" Id="Rf9b252971df94005" /><Relationship Type="http://schemas.openxmlformats.org/officeDocument/2006/relationships/slide" Target="/ppt/slides/slide4.xml" Id="Rb0ae1a119fac4077" /><Relationship Type="http://schemas.openxmlformats.org/officeDocument/2006/relationships/slide" Target="/ppt/slides/slide5.xml" Id="Rf394fa73dbe0454c" /><Relationship Type="http://schemas.openxmlformats.org/officeDocument/2006/relationships/slide" Target="/ppt/slides/slide6.xml" Id="Rd18e878ebba648b3" /><Relationship Type="http://schemas.openxmlformats.org/officeDocument/2006/relationships/slide" Target="/ppt/slides/slide7.xml" Id="R67abd9b84e274834" /><Relationship Type="http://schemas.openxmlformats.org/officeDocument/2006/relationships/slide" Target="/ppt/slides/slide8.xml" Id="R3fea370453e148a0" /><Relationship Type="http://schemas.openxmlformats.org/officeDocument/2006/relationships/slide" Target="/ppt/slides/slide9.xml" Id="R3553897cbf434c3d" /><Relationship Type="http://schemas.openxmlformats.org/officeDocument/2006/relationships/slide" Target="/ppt/slides/slide10.xml" Id="R514d1d7815e940a0" /><Relationship Type="http://schemas.openxmlformats.org/officeDocument/2006/relationships/slide" Target="/ppt/slides/slide11.xml" Id="Ra03f3d4a1cf34c92" /><Relationship Type="http://schemas.openxmlformats.org/officeDocument/2006/relationships/slide" Target="/ppt/slides/slide12.xml" Id="R2995a887c20c4957" /><Relationship Type="http://schemas.openxmlformats.org/officeDocument/2006/relationships/slide" Target="/ppt/slides/slide13.xml" Id="R40c79cf90f4f468c" /><Relationship Type="http://schemas.openxmlformats.org/officeDocument/2006/relationships/slide" Target="/ppt/slides/slide14.xml" Id="Ra7a28b759e7f4a06" /><Relationship Type="http://schemas.openxmlformats.org/officeDocument/2006/relationships/slide" Target="/ppt/slides/slide15.xml" Id="Rad8610e73ff747fc" /><Relationship Type="http://schemas.openxmlformats.org/officeDocument/2006/relationships/slide" Target="/ppt/slides/slide16.xml" Id="Rd1a00a3f9cb9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cbe09d5165d44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3d0702a1c24c9e" /><Relationship Type="http://schemas.openxmlformats.org/officeDocument/2006/relationships/notesMaster" Target="/ppt/notesMasters/notesMaster1.xml" Id="Rb16711a88d9940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fac8aa0e8f4016" /><Relationship Type="http://schemas.openxmlformats.org/officeDocument/2006/relationships/notesMaster" Target="/ppt/notesMasters/notesMaster1.xml" Id="R001bfb0b69594d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c23a5983c848c2" /><Relationship Type="http://schemas.openxmlformats.org/officeDocument/2006/relationships/notesMaster" Target="/ppt/notesMasters/notesMaster1.xml" Id="Rb7b2b588276845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037eaf7804a87" /><Relationship Type="http://schemas.openxmlformats.org/officeDocument/2006/relationships/notesMaster" Target="/ppt/notesMasters/notesMaster1.xml" Id="R3d811515a18d49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d09cb9e8a24acc" /><Relationship Type="http://schemas.openxmlformats.org/officeDocument/2006/relationships/notesMaster" Target="/ppt/notesMasters/notesMaster1.xml" Id="R508fb3957ed44a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95bfd5371a43c8" /><Relationship Type="http://schemas.openxmlformats.org/officeDocument/2006/relationships/notesMaster" Target="/ppt/notesMasters/notesMaster1.xml" Id="R73f8d809484649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db6bf9cc0b4ad3" /><Relationship Type="http://schemas.openxmlformats.org/officeDocument/2006/relationships/notesMaster" Target="/ppt/notesMasters/notesMaster1.xml" Id="Rd6f5d3491b5a4f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9a6974c4a6493d" /><Relationship Type="http://schemas.openxmlformats.org/officeDocument/2006/relationships/notesMaster" Target="/ppt/notesMasters/notesMaster1.xml" Id="R1015dda4f6c94e9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5f8d5fbe454fe2" /><Relationship Type="http://schemas.openxmlformats.org/officeDocument/2006/relationships/notesMaster" Target="/ppt/notesMasters/notesMaster1.xml" Id="R422c3860e3074e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e3b508e5a54e6a" /><Relationship Type="http://schemas.openxmlformats.org/officeDocument/2006/relationships/notesMaster" Target="/ppt/notesMasters/notesMaster1.xml" Id="R113564d79cbb4e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30e0d577e84d70" /><Relationship Type="http://schemas.openxmlformats.org/officeDocument/2006/relationships/notesMaster" Target="/ppt/notesMasters/notesMaster1.xml" Id="R6513c70d2a494e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be66d0d4f8468d" /><Relationship Type="http://schemas.openxmlformats.org/officeDocument/2006/relationships/notesMaster" Target="/ppt/notesMasters/notesMaster1.xml" Id="Red67e8d94b5f4c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00d09c7bf44196" /><Relationship Type="http://schemas.openxmlformats.org/officeDocument/2006/relationships/notesMaster" Target="/ppt/notesMasters/notesMaster1.xml" Id="R1dc4c5f2651147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3590eebe9241cd" /><Relationship Type="http://schemas.openxmlformats.org/officeDocument/2006/relationships/notesMaster" Target="/ppt/notesMasters/notesMaster1.xml" Id="R78d8902d14c043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a1d918edcbc41a8" /><Relationship Type="http://schemas.openxmlformats.org/officeDocument/2006/relationships/notesMaster" Target="/ppt/notesMasters/notesMaster1.xml" Id="R0de7858f8fcb47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75cdb3daec4f8c" /><Relationship Type="http://schemas.openxmlformats.org/officeDocument/2006/relationships/notesMaster" Target="/ppt/notesMasters/notesMaster1.xml" Id="Rc6c2c4c0ddd343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0a8e82596443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af558c05715400e" /><Relationship Type="http://schemas.openxmlformats.org/officeDocument/2006/relationships/slideLayout" Target="/ppt/slideLayouts/slideLayout2.xml" Id="Rd972e4ee5597455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72e4ee5597455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561798e0ff04746" /><Relationship Type="http://schemas.openxmlformats.org/officeDocument/2006/relationships/image" Target="/ppt/media/image.png" Id="R8a4e4bca716d47c8" /><Relationship Type="http://schemas.openxmlformats.org/officeDocument/2006/relationships/image" Target="/ppt/media/image2.png" Id="R6cd3652196ff41c0" /><Relationship Type="http://schemas.openxmlformats.org/officeDocument/2006/relationships/notesSlide" Target="/ppt/notesSlides/notesSlide1.xml" Id="Rd49055f462e249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dfda59f9974019" /><Relationship Type="http://schemas.openxmlformats.org/officeDocument/2006/relationships/notesSlide" Target="/ppt/notesSlides/notesSlide2.xml" Id="R9bb3851dfb5146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cb87e9285d47b7" /><Relationship Type="http://schemas.openxmlformats.org/officeDocument/2006/relationships/notesSlide" Target="/ppt/notesSlides/notesSlide3.xml" Id="Rcbcc73bf152a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2ed3391ab94304" /><Relationship Type="http://schemas.openxmlformats.org/officeDocument/2006/relationships/notesSlide" Target="/ppt/notesSlides/notesSlide4.xml" Id="Rdf07c43bc9b14b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bfb153a40d4103" /><Relationship Type="http://schemas.openxmlformats.org/officeDocument/2006/relationships/notesSlide" Target="/ppt/notesSlides/notesSlide5.xml" Id="Ra8dd80c59ea847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af0d52490c4c7e" /><Relationship Type="http://schemas.openxmlformats.org/officeDocument/2006/relationships/notesSlide" Target="/ppt/notesSlides/notesSlide6.xml" Id="R7418703891bd49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cf432d86f4131" /><Relationship Type="http://schemas.openxmlformats.org/officeDocument/2006/relationships/image" Target="/ppt/media/image3.png" Id="R963aea1e73b84b50" /><Relationship Type="http://schemas.openxmlformats.org/officeDocument/2006/relationships/notesSlide" Target="/ppt/notesSlides/notesSlide7.xml" Id="Re4de4d176826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0be0d66def4da9" /><Relationship Type="http://schemas.openxmlformats.org/officeDocument/2006/relationships/notesSlide" Target="/ppt/notesSlides/notesSlide8.xml" Id="R18923ddbb01245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a24bbdf139461f" /><Relationship Type="http://schemas.openxmlformats.org/officeDocument/2006/relationships/notesSlide" Target="/ppt/notesSlides/notesSlide9.xml" Id="R414991388b1943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4538a52bf74708" /><Relationship Type="http://schemas.openxmlformats.org/officeDocument/2006/relationships/notesSlide" Target="/ppt/notesSlides/notesSlide10.xml" Id="R73fe7b43f8c84a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a68d7cb39f473a" /><Relationship Type="http://schemas.openxmlformats.org/officeDocument/2006/relationships/notesSlide" Target="/ppt/notesSlides/notesSlide11.xml" Id="Rca848a032f0844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4d6f0cf464be0" /><Relationship Type="http://schemas.openxmlformats.org/officeDocument/2006/relationships/notesSlide" Target="/ppt/notesSlides/notesSlide12.xml" Id="R981caa9ba89d45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421deb119b4735" /><Relationship Type="http://schemas.openxmlformats.org/officeDocument/2006/relationships/notesSlide" Target="/ppt/notesSlides/notesSlide13.xml" Id="Rc20743c22a734f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a3502ec7a74a5c" /><Relationship Type="http://schemas.openxmlformats.org/officeDocument/2006/relationships/notesSlide" Target="/ppt/notesSlides/notesSlide14.xml" Id="Re08590543f874f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fea0d09c0546c8" /><Relationship Type="http://schemas.openxmlformats.org/officeDocument/2006/relationships/notesSlide" Target="/ppt/notesSlides/notesSlide15.xml" Id="R0285916586c84c5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9d209cfd934b1d" /><Relationship Type="http://schemas.openxmlformats.org/officeDocument/2006/relationships/notesSlide" Target="/ppt/notesSlides/notesSlide16.xml" Id="R42bb71b5d6b84e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38077A-F7DE-4079-999D-627E6EA5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e4bca716d47c8"/>
          <a:srcRect xmlns:a="http://schemas.openxmlformats.org/drawingml/2006/main" l="101" t="0" r="1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704850"/>
            <a:ext cx="4057650" cy="2447925"/>
          </a:xfrm>
          <a:prstGeom xmlns:a="http://schemas.openxmlformats.org/drawingml/2006/main" prst="rect">
            <a:avLst/>
          </a:prstGeom>
        </p:spPr>
      </p:pic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3652196ff41c0"/>
          <a:stretch xmlns:a="http://schemas.openxmlformats.org/drawingml/2006/main"/>
        </p:blipFill>
        <p:spPr>
          <a:xfrm xmlns:a="http://schemas.openxmlformats.org/drawingml/2006/main">
            <a:off x="609600" y="648891"/>
            <a:ext cx="1885950" cy="86439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BFA3A-61F9-4C50-9F2A-EF3BE996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61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E3EA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3EA2"/>
                </a:solidFill>
                <a:latin typeface="Aptos"/>
                <a:ea typeface="Aptos"/>
                <a:cs typeface="Aptos"/>
              </a:rPr>
              <a:t>Flagship Product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D5D47-6827-430C-BA8B-445F3AC4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90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9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Lead with export-grade ube powder, then build the Vera ingredient platform around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0BFC-0AF7-40DF-A039-F5EE970F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Deep-dive investor deck for Marc + Chris | Prepared May 4,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AC11B-7468-409D-8C52-577D21A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86150"/>
            <a:ext cx="4000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A3E6D-D8C0-4052-986C-A11770C4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95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95C95-CB1D-403F-AAFD-385A2E9B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962400"/>
            <a:ext cx="333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350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Powder is the flagship. VCO becomes optional merch or a later collaboration, not the core investor 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08298-EC52-41F9-8ECE-70DD6D3C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89B96-8808-41D0-8BB3-3338AB9C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User-provided Vera deck + cited market and regulatory sources in appendix.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C7E16-5BE6-4397-97D3-0C16F828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067449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FCF3EC-4A8F-4769-B6CA-7C4B2CAA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9AB0A48C-EFD8-4A74-9BB9-CC10837C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463F7B6B-EBD3-4ADC-907B-5E10C1F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EXECUTIVE VERDICT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DF22C-075A-4FEB-8E34-29A63A24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The investable wedge is not another purple product; it is trusted ube supply in export-ready 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3F932-8269-482B-B7DC-31265834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Investors will care less about novelty and more about repeatable buyer demand, QA, traceability, and working capital discipline.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612E6-69E2-4AE2-81FF-513DC164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79A5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45269-FD5D-4ADA-B461-1DBDA73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8214A-66F8-49BB-A61B-FD0C3CA1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C8B4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C8B4F"/>
                </a:solidFill>
                <a:latin typeface="Aptos"/>
                <a:ea typeface="Aptos"/>
                <a:cs typeface="Aptos"/>
              </a:rPr>
              <a:t>Flagship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4DEEE-D040-4129-A105-F7674088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Export-grade ube powder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319982-50E2-43C7-8193-479CE44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576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Shelf-stable, ingredient-led, easier to sample, ship and standardize across US, EU and GCC buyers.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C54C2-3F41-4C5B-99AB-9E8372E9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33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9409B0-8366-425A-B5A8-327C1BC9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33625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E0E5BB-C6EB-4D97-BB63-1089D22C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C7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E7C79"/>
                </a:solidFill>
                <a:latin typeface="Aptos"/>
                <a:ea typeface="Aptos"/>
                <a:cs typeface="Aptos"/>
              </a:rPr>
              <a:t>Second SKU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32E990-32BC-43A3-8AEE-EBB4DDB9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956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Foodservice ube 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4ABD9-BE9C-4CAA-8D62-36040A5C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576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A thicker ready-to-use powder/paste blend for cafes, bakeries, ice cream and beverages once powder demand is proven.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B8747-FFD8-42B0-96F9-EA6653A6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33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0C40E-4BC7-446F-9C07-0288AAD6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33625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C6AAB-9AF5-4262-A076-2325777F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098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8643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8643F"/>
                </a:solidFill>
                <a:latin typeface="Aptos"/>
                <a:ea typeface="Aptos"/>
                <a:cs typeface="Aptos"/>
              </a:rPr>
              <a:t>Do later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5A57EA-F22E-4CAB-8A2F-FF15B7E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2333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VCO, halaya, extracts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8C2DF2-C456-4DF0-8B34-D7CE28E4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576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Useful extensions, but either too commodity-like, too regulatory-heavy, or too flavor-house-like for the flagship.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AF613-5E34-42E8-9FFF-C4EF351D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9696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Board-level recommendation: raise against milestones for supply, processing and buyer validation. Do not sell the story on broad medical claims or a $200M forecast until purchase orders, capacity and yields are evidenced.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BF726A-B6F4-4FA7-A262-2DD4738A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4F99E-1EB0-4F0D-8A56-493E8DAA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Transparency Market Research, Ube Market Outlook 2035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751A3F-F914-48EB-ADC5-E6E9C9C0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08961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C8EC13-C87F-48D6-AB39-E7151BF7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409C35A7-B9CB-4291-B7C1-7884816C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0B8130CB-8BF7-499C-84DE-C8991491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DEMAND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27614-7E58-46AA-89FF-95F9B0C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Ube has moved from diaspora dessert to mainstream product-development brief.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2B8C5-F956-4D62-A73E-5D4F3DFC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The timing is real, but the opportunity is still early enough that a trusted origin-and-processing brand can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B364C-9BE9-4A76-B639-6E0E9DC1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E3EA2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6E3EA2"/>
                </a:solidFill>
                <a:latin typeface="Georgia"/>
                <a:ea typeface="Georgia"/>
                <a:cs typeface="Georgia"/>
              </a:rPr>
              <a:t>$455M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0D98B-6ECB-4B7F-A0EB-34EC3021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908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Estimated 2024 global ube market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10860-66A5-4EBB-8817-16208F32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76575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Third-party market estimate; forecast to $944M by 2035.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F24844-F789-4030-B6D2-A9B65877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3837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C8B4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6C8B4F"/>
                </a:solidFill>
                <a:latin typeface="Georgia"/>
                <a:ea typeface="Georgia"/>
                <a:cs typeface="Georgia"/>
              </a:rPr>
              <a:t>$3.06M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6A753-918B-4AC9-9B7E-2BAB84E0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908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Philippine ube exports in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C268A-A129-4760-814B-AD2EAD02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76575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DTI-reported export value; still tiny versus global attention.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7CAFDE-B76E-4767-A7D7-3A650EC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3837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E7C79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2E7C79"/>
                </a:solidFill>
                <a:latin typeface="Georgia"/>
                <a:ea typeface="Georgia"/>
                <a:cs typeface="Georgia"/>
              </a:rPr>
              <a:t>359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2EE43-B1E6-49BC-A7A9-D2B595FD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908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New global ube product launches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E4F65B-AEBA-4B55-8DF8-5B72575E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76575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Mintel GNPD figure cited by DTI for worldwide ube launches.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43CA1-0502-49A8-B58A-ECE0C76E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38375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79A55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B79A55"/>
                </a:solidFill>
                <a:latin typeface="Georgia"/>
                <a:ea typeface="Georgia"/>
                <a:cs typeface="Georgia"/>
              </a:rPr>
              <a:t>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A4701-471D-4BFA-B044-A73BA9F7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90825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Major chain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F8952-8BBA-4706-9D16-752819B3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76575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Starbucks launched ube drinks in US and EMEA spring menus.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A9C72-B779-4392-85BC-2E0FF2C4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962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53FBA3-07A6-4A9A-82B0-1F28CFE0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339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What this means for Vera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2F84A-B20F-4901-9451-2A4160D0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8324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42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The gap is not awareness anymore. It is reliable, authentic, spec-driven Philippine ube that brands can formulate with repeatedly.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6470C-0F4C-4467-8EC0-E6E77E4B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F575B-9BA5-4403-A392-FD09EFAD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Sources: TMR Ube Market Outlook 2035; DTI via BusinessMirror Feb 2026; Starbucks Stories Mar 2026.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222CEA-DA91-4BE2-961C-2FA7B0FF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806311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02F8E4-F22E-4852-ADE7-B28D38D6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33D6A02A-5DDD-43DF-8E2B-9364537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8057EA5-B4B7-4050-9199-EB7F242A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SUPPLY CONSTRAINT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A300D-22BF-49F8-AC6E-A59D225E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The bottleneck is not demand creation; it is converting fragile roots into consistent export inputs.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2EF20-5478-418E-8AEB-058D304C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Current Philippine exports are small, while buyers increasingly need formats that survive shipping, labeling, testing and formulation.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6225F-B1D0-4209-9369-367F1C79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D16CC-2910-46A1-AC53-7178EAD8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EA2"/>
          </a:solidFill>
          <a:ln xmlns:a="http://schemas.openxmlformats.org/drawingml/2006/main" w="0">
            <a:solidFill>
              <a:srgbClr val="6E3EA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0C8D1-5A54-4E3C-A680-2CC1FBCC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57425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Estimated global ube market, 2024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7DC03-424A-4CA0-97A0-AA929BD6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E3EA2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6E3EA2"/>
                </a:solidFill>
                <a:latin typeface="Georgia"/>
                <a:ea typeface="Georgia"/>
                <a:cs typeface="Georgia"/>
              </a:rPr>
              <a:t>$455M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EBD34-725D-4383-B525-04B5B49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Directional market sizing from TMR.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26288-6AAD-4C75-B2AB-CFE2CF76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8"/>
          </a:solidFill>
          <a:ln xmlns:a="http://schemas.openxmlformats.org/drawingml/2006/main" w="0">
            <a:solidFill>
              <a:srgbClr val="EE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F805A-3CCF-407A-A4E5-80063E00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81375"/>
            <a:ext cx="39567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C51BC-AD0D-44BD-9341-1E4A6056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Philippine ube exports, 2025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CCBC6-0D8D-4BA4-84C8-C97D58FC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43275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C8B4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6C8B4F"/>
                </a:solidFill>
                <a:latin typeface="Georgia"/>
                <a:ea typeface="Georgia"/>
                <a:cs typeface="Georgia"/>
              </a:rPr>
              <a:t>$3.06M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10B0FD-FB64-485E-8E73-808B777B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24275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DTI preliminary export value for ube and ube-based products.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97EF3-0884-4B46-97C9-AB624FCE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C86A0-A035-487C-8F14-EDF0ABB8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146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B79A55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B79A55"/>
                </a:solidFill>
                <a:latin typeface="Georgia"/>
                <a:ea typeface="Georgia"/>
                <a:cs typeface="Georgia"/>
              </a:rPr>
              <a:t>13,535 MT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FBBD4-2C71-4539-88EF-4DAC376B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1962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Philippine ube production reported for 2022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B3128-C249-4A09-B96A-A425C162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623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A small crop base makes farmgate contracts, planting material, post-harvest loss control and grade standards part of the product, not back-office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74EECA-E7AA-4EBC-9720-CBD84435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24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3BF80-692A-484A-9837-6FA7DE9B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8543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Powder turns perishability into shelf life and sampleability.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CE1B84-D78D-497D-8615-260FB3C8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763CE7-8479-4430-BD59-30479384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91100"/>
            <a:ext cx="8543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 grade system can separate culinary, beverage and premium Kinampay lots.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F9949-2A13-4610-AD48-87A796AA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17D80-CD33-4D71-94FB-57CA7CB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85439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Traceability is a commercial feature because buyers fear fake or diluted “ube.”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B1DFDF-60A8-4388-ADC4-C729C385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BD0128-E6CD-459E-80CD-F960016C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Sources: DTI/BusinessMirror; TMR; DTI Quirino export-ready powder case.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7AE9E-8CDD-4C0E-84CA-F2F74CF4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072575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AF5AAF-93B5-43A6-862B-1872F6DB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72101B8-C2B9-4682-A5C6-B6CDBFA6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D9ECB398-7B96-45F4-9C7F-80033B00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PRODUCT 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0E69F-9ACD-4904-94EF-6094A5B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A weighted product screen puts powder clearly ahead of VCO, halaya and extract.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CAB6E-C505-433B-A002-AB8053B8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Scores reflect export readiness, demand fit, regulatory friction, brand differentiation, margin leverage and supply feasibility.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44DA0-21A3-42F6-BFBA-39BF0631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33575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5F0FB-2B1B-4562-9C36-B776CAEE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9335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74F5A-FDD0-43AC-819C-9E3932F3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335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7A5D0-86F4-4D00-95A9-E71BFB79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9335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Reg.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DA346-7AA7-4650-A8A6-F403CE0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9335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Brand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7E847-5DE9-4A8A-9091-A70118E6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335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Margin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47E0D-EC0C-4FA7-BDC5-D742C103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33575"/>
            <a:ext cx="91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BA2EBD-DB83-4160-A3C1-794DB34B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33575"/>
            <a:ext cx="800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E91036-245B-40C9-B9A4-9570C29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85975"/>
            <a:ext cx="8429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79A5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69662-D645-4D6D-8D68-4C7C0251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C8B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C8B4F"/>
                </a:solidFill>
                <a:latin typeface="Aptos"/>
                <a:ea typeface="Aptos"/>
                <a:cs typeface="Aptos"/>
              </a:rPr>
              <a:t>Ube powder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58CCB0-73FF-4A88-92D7-5D9FB342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34543-0BC8-418C-AA1F-63D90C8C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86000"/>
            <a:ext cx="6000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9CE32-6D2F-4860-A6EB-676F4A41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DE8BB-DD6F-44BA-9A05-C5544993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308CC-39FB-4165-AFAD-FD1D3131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6000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67949-DEF6-448B-9B92-A6F676D5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C67BCA-680E-4DF9-BB34-785AB99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02E3B-FB24-4687-9CCF-F506B6EB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57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9D77D-800B-4072-8F2D-F9E5D7FF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AEC70F-B6A7-4FEA-8E1A-D2BCFDA4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22E51-C167-4F79-A3E1-E4B85AFD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286000"/>
            <a:ext cx="622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C89BE0-FD07-484F-BCA0-05D92F49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4F718-1D69-4486-978A-974B5A2D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2ED7A-CAAC-4634-B44A-B4D09C80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533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06ED7C-6783-4873-8753-179EDC6B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D65DE5-5DAC-41CF-8070-EA0B2FD6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714347-F7AE-450E-92B1-9900FD00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48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769EA8-4ABB-4138-9CE4-48D0FE4D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98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2E9317-C125-432E-B34F-CAA68D7A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193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C8B4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6C8B4F"/>
                </a:solidFill>
                <a:latin typeface="Georgia"/>
                <a:ea typeface="Georgia"/>
                <a:cs typeface="Georgia"/>
              </a:rPr>
              <a:t>86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63DCD1-89E2-4E75-93FF-B215B880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33675"/>
            <a:ext cx="842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CF"/>
          </a:solidFill>
          <a:ln xmlns:a="http://schemas.openxmlformats.org/drawingml/2006/main" w="0">
            <a:solidFill>
              <a:srgbClr val="E7DCC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50E9C-C3AE-4CB2-9F64-8C3FC998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479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Foodservice base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39AEE1-502F-4C59-AC03-C305ED49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282178-5E4F-4943-BD98-3927B61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95600"/>
            <a:ext cx="533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496A06-D61B-4F7B-A3E9-0D48B359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194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A91B89-7049-478A-8DA0-D9EBF499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207575-0AED-4C7B-829B-2493A0E6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56673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6FD675-C047-403E-B350-473BBCA1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194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5E2A12-C8F1-450A-997C-6E75AAB7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31AB8D-EA63-4CB3-B9F1-B2C2F269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533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6A7A64-C1B1-4C07-8C2C-954CB1C6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0194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797F649-5A28-4231-AC7E-F61D34B4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5C9BAB-BECE-4ED3-A43C-E8592933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95600"/>
            <a:ext cx="57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FCBEA4-B6D0-4D36-B652-40E2AB07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0194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F05B21D-5147-4B4F-A82D-F63FD558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3ED9DC-FF2F-4552-8E28-74B6465D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48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E79F88-ACFB-431D-A7E7-31459AD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194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7B6892-871A-4FC3-A931-8043A9B2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065F03-35E2-496B-BCA8-A060F4BA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95600"/>
            <a:ext cx="35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13EE612-5741-432A-9FDD-9F8567D2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194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637CFE-D9F0-4DBB-935A-606B1631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289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E7C79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2E7C79"/>
                </a:solidFill>
                <a:latin typeface="Georgia"/>
                <a:ea typeface="Georgia"/>
                <a:cs typeface="Georgia"/>
              </a:rPr>
              <a:t>77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202EA8-674C-45C5-8009-9A502340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43275"/>
            <a:ext cx="842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CF"/>
          </a:solidFill>
          <a:ln xmlns:a="http://schemas.openxmlformats.org/drawingml/2006/main" w="0">
            <a:solidFill>
              <a:srgbClr val="E7DCC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3C81AE-7E20-4E3C-87B3-4B6EAAED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Extract / flavor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4C0D53-DD0C-4C3E-AD6C-3CE87B82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052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D30B0E-D328-43BF-A2F2-6242BE2E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505200"/>
            <a:ext cx="433388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A5D8B1-7237-4622-BBF9-AF11E263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290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DD0DC3-FE4A-4327-B017-DF804A38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3601575-321B-457B-B03F-F7B42CBD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00063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72F787-47E7-4302-879C-CA05C27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290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8ECD4D-5F13-414F-94AE-3E96B2DB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67D5DE-C695-4A8F-B29D-EBDA1C64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05200"/>
            <a:ext cx="44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B6603D2-C494-4F24-B272-67C9E511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6290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84D1F6-1271-4EB5-9E32-2B8E4E58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052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367E5F9-9318-47F5-828F-671DB0FD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052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F0DD91-DD0E-474A-B070-30F6890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6290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7ECF7F3-97C8-4189-B32D-D1121297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AA9AEF-A3A2-4A5A-AE80-CA413CC7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622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DA19298-2DBB-4EEB-B4D9-3587C58A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290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D6DD534-0123-41E1-AFA6-8CFDAF1C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052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BB192F-8738-4278-9EE3-1EA3C1E5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505200"/>
            <a:ext cx="35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2CCF9F-E21A-4474-8E1A-F660D277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B48E9AB-4BFD-4737-AFFB-B675C9FE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385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B79A55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B79A55"/>
                </a:solidFill>
                <a:latin typeface="Georgia"/>
                <a:ea typeface="Georgia"/>
                <a:cs typeface="Georgia"/>
              </a:rPr>
              <a:t>69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C0EECE3-F8E1-4188-AC0A-168B3D8A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52875"/>
            <a:ext cx="842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CF"/>
          </a:solidFill>
          <a:ln xmlns:a="http://schemas.openxmlformats.org/drawingml/2006/main" w="0">
            <a:solidFill>
              <a:srgbClr val="E7DCC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E328036-D7CA-44D5-9D00-2AA1550B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671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Halaya / jam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87F9701-B4E3-4F4B-A1E9-CC0745E2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14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772FF9-BF10-4817-B358-2DCCB81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14800"/>
            <a:ext cx="333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7DDD7B8-9A16-42BD-9B41-DE561D21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386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F0C36FC-B239-44AD-92DC-E5ABBE69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14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F3F11A-FFBC-4DEC-8630-FDD89FD0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14800"/>
            <a:ext cx="533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81050D1-0AEF-41E0-8597-BD87C135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2386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5728E30-08BC-409C-B798-9CC8FBB0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01B1208-6BA5-40C8-8647-084988B4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14800"/>
            <a:ext cx="311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030B4F-F745-4086-A937-FCAE00E8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386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D5CA8CB-3C94-4F35-A8D6-520FFD78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14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C07590E-A890-4759-9A4C-98A6CE1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114800"/>
            <a:ext cx="577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C7549D-1A00-459E-BCCD-655B779F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2386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607CD9E-10C9-45F9-8FF1-2F084AC4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8F5F44A-E675-4196-B040-73F451C7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4000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04FA70D-A581-481D-A268-35F46F3C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2386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F458AE3-9461-4322-86DA-481C482D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148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176306-C0C3-42DF-88DF-BA614538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148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30ADACA-0866-4BFD-A40E-B08BA1A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666BEED-7F3D-4E6A-AE56-F50C97EF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481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76982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C76982"/>
                </a:solidFill>
                <a:latin typeface="Georgia"/>
                <a:ea typeface="Georgia"/>
                <a:cs typeface="Georgia"/>
              </a:rPr>
              <a:t>61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93820C1-088A-4EA3-A7E7-054D9D1D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842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CF"/>
          </a:solidFill>
          <a:ln xmlns:a="http://schemas.openxmlformats.org/drawingml/2006/main" w="0">
            <a:solidFill>
              <a:srgbClr val="E7DCC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286CED4-2EB6-4A1B-8C6A-828D99A9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Ube VCO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1535FCE-2763-42B6-9603-A0C9B58F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24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1960822-E4B8-4756-9076-27FED7D2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7244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0C498E-C6BA-4729-8090-37F9CBB3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8482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E3F8708-F41D-45B0-83DA-372FA4DB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24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908EBB-4318-4985-89F6-97103F4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724400"/>
            <a:ext cx="3333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400F44C-2F60-4F86-B137-E0B317077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8482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4539843-DA89-43CE-AB5D-A4AEB18F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8776A53-131B-4808-B921-839D5EAC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24400"/>
            <a:ext cx="355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14FF3E5-AB7D-4884-B522-BA6B5A57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8482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5775944-95BA-4E5E-9365-1BD6A011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24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8C55908-A554-4258-AE10-2C0B4B64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724400"/>
            <a:ext cx="26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BE60ACE-2DE4-486B-A55D-BFDCE9DC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8482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A5AC8AE-32E7-4F18-9801-D80F5AA5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9149FCF-3745-4B5F-9B42-A017B0D8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44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4C4FEDB-E197-48C7-8057-B4B925A6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8482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8200281-4E52-4C59-B050-73F27234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244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CCF"/>
          </a:solidFill>
          <a:ln xmlns:a="http://schemas.openxmlformats.org/drawingml/2006/main" w="0">
            <a:solidFill>
              <a:srgbClr val="E5DCC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D5F5B93-0CC4-4E7C-8395-2C3D3847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724400"/>
            <a:ext cx="17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B73733-89E6-4B63-B641-FBCF6AF7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48225"/>
            <a:ext cx="914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C31E842-CEB0-4186-87C8-AF615FD7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657725"/>
            <a:ext cx="800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B8643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B8643F"/>
                </a:solidFill>
                <a:latin typeface="Georgia"/>
                <a:ea typeface="Georgia"/>
                <a:cs typeface="Georgia"/>
              </a:rPr>
              <a:t>46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D19E0B16-34EA-4460-960C-70933D4D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72075"/>
            <a:ext cx="842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DCCF"/>
          </a:solidFill>
          <a:ln xmlns:a="http://schemas.openxmlformats.org/drawingml/2006/main" w="0">
            <a:solidFill>
              <a:srgbClr val="E7DCC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D510B3A-1195-42AB-B07E-A3216739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942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12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Why VCO scores low: coconut oil is already a large, competitive Philippine export category; ube color compounds are not naturally oil-friendly; and a wellness/beauty story would add claim risk without solving the ube supply problem.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98BC4069-BE30-49A2-AE31-ECA191DE7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6A9D436-1ADA-4BC9-8404-DC6D9B23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Sources: Grand View Research VCO; purple yam anthocyanin solubility research; FDA claims/food import rules.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E391964-B237-4BB5-ABCF-164604A3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297636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BF49B0-35BA-49A2-8B80-4AE8F6BD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9B36719-4B52-48EA-8E58-7E72FBD1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66E5F5D3-4C3F-4D84-BA15-903E3B34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WHY POWDER WINS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E9419-9AE4-4E44-98BC-5E5957B9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Powder is the only flagship that gives Vera both low-friction export and a platform for future SKUs.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ED9F5-A4EC-4B80-8A82-1884DE5B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It can sell B2B first, validate demand, then feed retail, foodservice and high-value derivatives.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CA3FF-27A7-4C42-94E3-4C4E6078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054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2"/>
          </a:solidFill>
          <a:ln xmlns:a="http://schemas.openxmlformats.org/drawingml/2006/main" w="0">
            <a:solidFill>
              <a:srgbClr val="211A2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8C7AAE-8528-401C-B48E-EAE433AF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2"/>
          </a:solidFill>
          <a:ln xmlns:a="http://schemas.openxmlformats.org/drawingml/2006/main" w="0">
            <a:solidFill>
              <a:srgbClr val="211A2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F0F00-7CA4-4AE8-8CEE-D1BFC816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Lower export friction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8B504-04B0-4AAE-A319-2AE84675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6578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Higher SKU leverage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10F7AE-7FB4-4484-8B68-6A690DF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2000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Higher buyer confidence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3DE4A-DEF2-4437-A783-07E48D5F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686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73DB3-F2E1-47BD-A37B-FDEC3623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574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Ube powder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7B6C0-6A14-4F3B-A941-61ECBA34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479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ingredient platform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01F59-6747-494A-BF34-64F686AD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909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4BC65-7D87-411E-87B9-5B3EDE5A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3623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Foodservice 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09162-C363-42F1-8E17-F80844B2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528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73AAD-FCB7-4FD5-B6A7-31A4D0A9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576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B8EF3-BBDB-4D29-B589-D49E0EDD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290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Extract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472E5-2A97-4620-853E-F59ED577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195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flavor-house risk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3E71D8-55B9-4F9F-B2B3-39C300AC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95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AAAB7-951E-4586-A70B-B71C34C5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6722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Halaya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3740B-C7C8-485B-AC90-734D7F88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577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retail-ready but heavier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E6B92-B43F-468B-9943-EA2A3214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0863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905FC8-D78C-4432-A8C4-1A1EF59E8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057775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Ube VCO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4352C-9877-45FB-B7D9-F67828E1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2482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weak fit with core demand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D36910-BCB4-4EBE-AFDE-FE70653A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24100"/>
            <a:ext cx="2381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92CA1-64D5-4788-96DC-14A9AC36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52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Flagship definition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54E92F-48E0-4826-840D-7663F509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DA16E3-7781-441A-904E-95EDDBEA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 product buyers reorder.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A37D73-0BAD-4764-B28C-F5D95083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47A668-18B6-43E0-A3BC-87C39C8E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 format regulators understand.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941EC6-9DEB-490F-95D5-41FB1718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76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8E688F-DC31-438F-AC03-2D65DDCA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 SKU that proves Vera’s supply model.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11A4C1-8C6C-4EDD-9AB5-6687A375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38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EA2"/>
          </a:solidFill>
          <a:ln xmlns:a="http://schemas.openxmlformats.org/drawingml/2006/main" w="0">
            <a:solidFill>
              <a:srgbClr val="6E3EA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D11BDF-85FA-4A50-B89E-776D086B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814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 base for future consumer products.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6254D3-F2B2-4119-A742-91EF74EA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1AC211-8421-4EA0-9F59-2A309165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Transparency Market Research, Ube Market Outlook 2035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E8E8EC-309A-41E5-B2C2-9AAAE53B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30862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93C2F-F2CE-4CE6-A18A-5139A594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8C5081D7-EC3C-4A22-9D15-AD85C767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8D1D3EAD-15A7-4F19-ACC6-D01D599DF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FLAGSHIP SKU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5F73C-AC24-4383-8E7C-34F2F8C3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Launch a clean ingredient product, not a novelty powder.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C6DE8D-7D1A-431A-9532-C8FAE5BB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The product has to read like something a QA manager, chef and importer can all approve.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AD8A3-8C8C-405D-8A4D-C89FE36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9718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B79A55"/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aea1e73b84b50"/>
          <a:stretch xmlns:a="http://schemas.openxmlformats.org/drawingml/2006/main"/>
        </p:blipFill>
        <p:spPr>
          <a:xfrm xmlns:a="http://schemas.openxmlformats.org/drawingml/2006/main">
            <a:off x="1409700" y="2533848"/>
            <a:ext cx="1952625" cy="89495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10E5E-DEE0-4E62-94BB-6CF72AF2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100% Philippine Ube Powder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91D82-B9F7-4ABC-A909-74DE5627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43400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EA2"/>
          </a:solidFill>
          <a:ln xmlns:a="http://schemas.openxmlformats.org/drawingml/2006/main" w="0">
            <a:solidFill>
              <a:srgbClr val="6E3EA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002C9-0E02-44A8-BE00-6996A4DEF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Dioscorea alata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1B9E5-7349-44C6-BAD5-EB7DAEFA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11811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60E937-9298-4998-A7CB-3BFD800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62450"/>
            <a:ext cx="1181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B2B / retail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C1B64D-0B71-4AA8-9414-80E1B05BF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336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C8B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C8B4F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8E404-FA17-439A-A965-D9EF9CB6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336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Dioscorea alata; variety and farm-lot recorded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C36FD1-F1B3-40EE-9A97-27E7D6AE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622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EBC35-3263-4A04-B0C2-30E282971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241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7C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E7C79"/>
                </a:solidFill>
                <a:latin typeface="Aptos"/>
                <a:ea typeface="Aptos"/>
                <a:cs typeface="Aptos"/>
              </a:rPr>
              <a:t>Format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CC6C23-FCC6-4E6C-8296-D74E71CD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2415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Fine powder; 1 kg samples, 5 kg/25 kg B2B bags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279A9D-A895-4314-8A89-0857D517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527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B1BED-3FD3-423E-9907-2F01D2D0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147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Proof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F10A9D-518F-46C5-8D52-0755755F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147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COA: moisture, micro, heavy metals, pesticide screen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D67334-8FA1-4C81-8C20-5BFEF34E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433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9AAB7-FDD1-4B2C-8736-516E876D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E3EA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E3EA2"/>
                </a:solidFill>
                <a:latin typeface="Aptos"/>
                <a:ea typeface="Aptos"/>
                <a:cs typeface="Aptos"/>
              </a:rPr>
              <a:t>Grades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92ED5C-2069-4475-919E-1944F33E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90525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Ani culinary, Kinampay Reserve, beverage-ready blend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DB4DD1-CCA6-4016-A35D-E7453085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3387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43258F-BAAB-4A96-8FE8-CAED73E4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1219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769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6982"/>
                </a:solidFill>
                <a:latin typeface="Aptos"/>
                <a:ea typeface="Aptos"/>
                <a:cs typeface="Aptos"/>
              </a:rPr>
              <a:t>Claims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5A98CD-7E71-4356-82DA-0F7E5806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95800"/>
            <a:ext cx="438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Flavor/color/traceability first; avoid disease claims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4BDB4A-46EF-4182-BDA5-4BEA01D2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24425"/>
            <a:ext cx="561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249B48-3199-49FF-AB85-9029E84F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05F841-BF8C-4E7C-8141-93EDB015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Sources: DTI Quirino export-ready ube powder; FDA/EU labeling and safety requirements.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606425-F054-4B99-A6B5-1533C7EF3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167375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28453-1A96-48DA-A191-97D5BF1C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5C7E2428-3DAB-4C4B-9514-1125F7F2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CA1B3EE1-2129-478D-AF70-FEEDCB74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B2D40-FC83-4901-8386-ED71BFB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The first customers should be ingredient buyers, not supermarket shoppers.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43FF4-005B-41C3-87B6-ABB00646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Powder lets Vera create repeat demand before taking on the cost of retail distribution.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BD0D8-319B-4726-9E42-8FAE270F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62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215AD-1514-483B-9D44-1CDD5540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80FD0-6132-4250-BB03-247099F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United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5BC8F-1015-4FED-9E6B-2D82D1FA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314575"/>
            <a:ext cx="3667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Filipino distributors, specialty cafes, ice cream, bakeries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C3748-E0C0-4563-8501-02A2CC8A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14575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FSVP-ready importer pack; samples and COAs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40AF7-E72C-4A4B-AB0D-F8F15AFE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962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05E82-A117-4138-BCB1-2C69D2A9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0D696-3296-42CB-BB40-F86D88BF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Europe / UK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4C9E3-F965-4246-87B5-861261E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81375"/>
            <a:ext cx="3667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Specialty dessert makers, cafes, natural-color formulators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6F455-D1DB-4820-9292-AFF9C04F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81375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EU/UK labeling, traceability, allergen discipline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AD159-0175-4EE8-B6C0-F53B0CC8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962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4AB54E-87CD-4A5E-8564-EA6DD0D9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A7B39-C377-4E1F-9F39-46959647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Middle East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9CD59D-0D50-44A5-B666-FB6E815E0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48175"/>
            <a:ext cx="3667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Hotels, cafes, dessert chains, Filipino retail channels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D3DC4-351B-4365-9FD6-CC304739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48175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Halal certification and Arabic label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88AD1-AF0D-4B10-A848-D61D0ADE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5785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Initial sales motion: paid sample kits → formulation support → recurring B2B contract → co-developed retail or foodservice base.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020E6B-A39D-45EE-976C-7B01D865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86F96E-6E8E-4D3B-9F3A-FD780BD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Sources: DTI key markets; FDA/EU import and labeling sources; market observation from Starbucks launches.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FE7BA9-2BC6-4925-ABE5-531A68B1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936786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29705-4E32-4EDE-9ADA-E7BDDC5C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2C1181AB-7EDC-4864-917E-928198E78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EC8CADA3-E838-4517-9700-3F5B4FB2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COMPLIANCE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D680E-06D8-4313-9B76-24E0CC3B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Powder has a cleaner compliance path than shelf-stable halaya or wellness VCO.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0AF73-9CF4-4566-BB3A-93596294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The deck should frame compliance as a moat: buyers pay for fewer surprises.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E40395-013A-4635-A96B-8C37955F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4D059-45A5-471E-8A64-706830CE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C4737-BA08-4BFB-B3BF-52DD72E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C8B4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6C8B4F"/>
                </a:solidFill>
                <a:latin typeface="Georgia"/>
                <a:ea typeface="Georgia"/>
                <a:cs typeface="Georgia"/>
              </a:rPr>
              <a:t>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A41D6-619D-4B4F-A534-D5ED0724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0DD9A-38E3-4EEE-9522-C3B26B8C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Foreign food facility registration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2644D-8273-4609-B70D-584DCB6F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DAA058-25DB-48CD-A9CF-FAC16FA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052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Prior Notice for imported food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906DCD-340F-48FF-9A03-808A7F80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387B0-4A36-4519-AA53-51440E05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US importer FSVP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15C5C-585F-4E42-80C8-5E8C4FE1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14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971820-AFAF-49F7-B080-9B7B0024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APHIS generally allows dried/processed plant foods without permit, subject to inspection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AD0EB-DD07-49B4-AA40-A93E7F00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AA48F-A66F-46DE-A11A-9B983C63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1717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CCF8A8-87BC-44E6-9657-98DD9813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57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E7C79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2E7C79"/>
                </a:solidFill>
                <a:latin typeface="Georgia"/>
                <a:ea typeface="Georgia"/>
                <a:cs typeface="Georgia"/>
              </a:rPr>
              <a:t>EU / UK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A71749-1C5F-445F-BA0C-24613071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86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F80A0D-DF0F-4CCD-A6A7-2919FCD8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Food hygiene and official import 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E7B4B9-5C25-4997-9304-AED99957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006C9-6D28-402B-8836-A585EE77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One-step-back / one-step-forward traceability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BC6BD-2539-4320-B547-F157F707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3A688-3E11-499A-9AC8-57C05BDE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Mandatory prepacked food labeling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5FA9B8-1571-450A-8681-01288875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8A110A-B1D2-4E62-8B1A-12E5215F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577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Check non-animal-origin risk lists before shipment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6E48CC-99FF-42F8-88BC-E1EDB780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8A422-5AF4-4B88-A7E1-8A989F75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57AB92-5AF5-42FD-BADE-70E8C145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57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79A55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B79A55"/>
                </a:solidFill>
                <a:latin typeface="Georgia"/>
                <a:ea typeface="Georgia"/>
                <a:cs typeface="Georgia"/>
              </a:rPr>
              <a:t>GCC / 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19B1A-F473-4533-9326-A93BBB85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86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C2A6CD-D3C5-46CA-9F51-152E0EAF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289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Halal certification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007FCD-A543-4EB2-85DA-DDD92AAC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E931FC-D729-4E65-ADAC-77583A3E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052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Arabic label / importer registration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0F8F09-ECAE-4B70-BDAE-BB213EF6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386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4C5B52-C19B-4F53-9945-F1C86C07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Shelf-life and storage specs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1E0F70-14A7-48D9-BF68-41286634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14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834371-210A-4DB4-AA3D-474909F9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577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Distributor-led market registration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6CAB48-DAF9-4237-9FA8-A359CFE9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9382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B8643F"/>
                </a:solidFill>
                <a:latin typeface="Georgia"/>
                <a:ea typeface="Georgia"/>
                <a:cs typeface="Georgia"/>
              </a:defRPr>
            </a:pPr>
            <a:r>
              <a:rPr sz="1088" b="0">
                <a:solidFill>
                  <a:srgbClr val="B8643F"/>
                </a:solidFill>
                <a:latin typeface="Georgia"/>
                <a:ea typeface="Georgia"/>
                <a:cs typeface="Georgia"/>
              </a:rPr>
              <a:t>Halaya warning: shelf-stable jarred products can trigger acidified/low-acid canned-food process filings in the US depending on pH, water activity and package.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AA65CA-A081-4D92-86CA-E6785782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17F9B9-9681-42E0-BDE8-61C95318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Sources: FDA importing human foods, FSVP, food facility registration, LACF; USDA APHIS; European Commission/Your Europe.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FBB499-0C5E-4A96-9994-4352792F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540585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2DB440-891F-4EC2-94F1-D988F48A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99C2C6D-0E5A-43C1-A766-E5581267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90FA0463-6340-45A0-B0EE-F98B34F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79B9C1-51DE-4CE7-85EE-DD5C7C90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Vera’s moat is a farmer-linked processing system, not a standalone factory.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98F14-D695-4B1D-A19B-1E69CF6B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Every lot should connect origin, quality, yield and buyer feedback.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66A30A-A46F-4897-8138-B8F35236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80903F-996E-499E-88E4-14C58529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B2F4A-E01D-4FCD-AA22-33926052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457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C8B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C8B4F"/>
                </a:solidFill>
                <a:latin typeface="Aptos"/>
                <a:ea typeface="Aptos"/>
                <a:cs typeface="Aptos"/>
              </a:rPr>
              <a:t>Farm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70B7B-D28F-40E4-B1F7-432B0885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4573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Contract floor price, planting material, variety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FF5B1-38C3-4C19-8849-E00B3EC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90248-48D1-4A47-A7A9-6078555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FE1B05-80A1-4D15-84F8-DC02E438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43200"/>
            <a:ext cx="1457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E7C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C79"/>
                </a:solidFill>
                <a:latin typeface="Aptos"/>
                <a:ea typeface="Aptos"/>
                <a:cs typeface="Aptos"/>
              </a:rPr>
              <a:t>Lot intake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5A115-745A-4A8A-90A4-36DAA883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981325"/>
            <a:ext cx="14573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Grade by variety, color, solids, defects and traceability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48310-5BCE-41C5-BD97-761C674D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DCFCA-CC4D-43B3-904F-647DD0C4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4D9E9C-BD1C-459E-BD84-A4097729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43200"/>
            <a:ext cx="1457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Processing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63270-2BD9-41A9-ADDC-4D52B76B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81325"/>
            <a:ext cx="14573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Wash, slice, blanch, dry, mill, nitrogen pack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AF4C01-066B-41A6-865E-C08F6027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3FC58-8589-4B55-898A-EC59D03B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717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EA2"/>
          </a:solidFill>
          <a:ln xmlns:a="http://schemas.openxmlformats.org/drawingml/2006/main" w="0">
            <a:solidFill>
              <a:srgbClr val="6E3EA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70C40-CB51-4FD4-BB19-D9F5BB04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743200"/>
            <a:ext cx="1457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E3EA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E3EA2"/>
                </a:solidFill>
                <a:latin typeface="Aptos"/>
                <a:ea typeface="Aptos"/>
                <a:cs typeface="Aptos"/>
              </a:rPr>
              <a:t>QA / COA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25FA3-3FDF-435D-9BF6-A1AF3E9C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981325"/>
            <a:ext cx="14573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Moisture, micro, metals, pesticide screen, shelf-life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37EFA-550D-4A3B-B733-F111DB4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7621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03FECF-5A61-49C3-A919-2679E554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7621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06DBAE-749D-4C70-B8AC-8747846A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43200"/>
            <a:ext cx="14573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698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76982"/>
                </a:solidFill>
                <a:latin typeface="Aptos"/>
                <a:ea typeface="Aptos"/>
                <a:cs typeface="Aptos"/>
              </a:rPr>
              <a:t>Export buyers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9EE40-6446-4310-8023-E6B5FB78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81325"/>
            <a:ext cx="14573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Samples, formulation support, recurring orders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581B7-2D84-4F6E-B83E-D64D4EDF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908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AB81F-FA2B-4B14-A09A-66E94E44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1B90A0-48F2-43D9-9772-C30C3CB9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908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76CF0C-D8F4-4C8A-AC24-38419233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9085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152E3E-91F6-4E9A-AC19-28CA0EFC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00550"/>
            <a:ext cx="7953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8B1C0-6E50-4997-9E49-EF18A9B1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910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Investor insight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637048-F6DA-4D15-926E-89F5317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857750"/>
            <a:ext cx="706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275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If Vera can prove consistent color, flavor and safety across farm lots, the company can sell trust and formulation reliability, not just powdered yam.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7E79D9-7894-4292-9507-880F91D9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ACA33C-075D-4E0B-8BA1-DEAA4EA1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Sources: Current Vera supply-chain concept; DTI Quirino export-ready product development case.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33655-2E6A-4EFB-8A4A-0E48A43E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61512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DE58D2-EDE6-4394-8606-D74B8ABE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FA5ADC5E-7305-4F60-9B11-C50446CA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B2D36D97-B21B-447A-A69B-0557E156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ECONOMICS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97FC2-368E-4851-9C06-AECBBF91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Replace the hockey-stick forecast with a staged proof of margin.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DCF77-7669-43BE-A768-156DD2E7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A credible investor deck should show what must be true before revenue scale is claimed.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D1680-28FD-4487-A0A2-A2553322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857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5A966-F2F6-44E8-820A-B96CFD40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6C730-B6CC-4B5A-ABDB-BAD60321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C8B4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C8B4F"/>
                </a:solidFill>
                <a:latin typeface="Georgia"/>
                <a:ea typeface="Georgia"/>
                <a:cs typeface="Georgia"/>
              </a:rPr>
              <a:t>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B850C-69F5-42E8-8C49-4928EB90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Paid samples + small B2B bags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7955EE-F1E9-4735-91C0-5B001BEA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Prove yield, COA, shelf-life and buyer 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9A44C-0D1F-425D-A5CF-FE5491F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62200"/>
            <a:ext cx="2857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A346A-96E2-4F17-BE80-894C54E4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622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A60822-0EF6-4BDC-9508-FB03CC1E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E7C79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E7C79"/>
                </a:solidFill>
                <a:latin typeface="Georgia"/>
                <a:ea typeface="Georgia"/>
                <a:cs typeface="Georgia"/>
              </a:rPr>
              <a:t>Repeat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D1B7F-AE34-446C-B8BE-02CE0234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051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Recurring foodservice / ingredient 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B933F-4650-4A2B-911F-4E9EFCD7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385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Prove reorder rate, gross margin and working-capital 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2A9E6-5A79-4470-ADDF-AF5EECF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62200"/>
            <a:ext cx="2857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49582-E931-47FE-93AF-89055621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62200"/>
            <a:ext cx="2857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A4A365-E79B-4521-BA33-CD1C90DEF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79A55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79A55"/>
                </a:solidFill>
                <a:latin typeface="Georgia"/>
                <a:ea typeface="Georgia"/>
                <a:cs typeface="Georgia"/>
              </a:rPr>
              <a:t>Platform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EF430-0B6D-4CB2-A21A-DDAC01F94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2209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Powder + base + select retail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DEFEB6-7855-4125-86CF-BA83584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2266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Expand only after powder has stable supply and demand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9F87D5-69B6-4B6E-B873-3EEBA2C9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01E1D-D84E-4F14-807E-1E2C3D06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935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Fresh kg per powder kg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77E5E4-3A12-49B0-9507-F5AABB3C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76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2E7C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5A40E-DC61-48E9-933F-13AD0010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19700"/>
            <a:ext cx="935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All-in processing cost / kg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561F1B-1483-4BEA-886A-8E1825C2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43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0BD233-6AE2-47BE-85A3-BE93C31B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86400"/>
            <a:ext cx="935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Target wholesale price / kg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CC326D-0C6D-4AC0-8AAA-331427BA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10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EA2"/>
          </a:solidFill>
          <a:ln xmlns:a="http://schemas.openxmlformats.org/drawingml/2006/main" w="0">
            <a:solidFill>
              <a:srgbClr val="6E3EA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71B796-F89B-4370-B7E1-688F7B8F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53100"/>
            <a:ext cx="935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Gross margin after freight + QA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237052-0828-461E-A759-6E28F299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76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C769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816227-9108-4F41-A1C0-D7291A3A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19800"/>
            <a:ext cx="935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Cash conversion cycle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6CE3B5-039A-4853-86F3-D4BC58E1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D4AAE9-6B63-4B31-95F1-E26F9197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Recommendation: keep forecast scenarios, but label assumptions and tie each scenario to evidence milestones.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68DC0E-D24C-4423-ADD9-25BCA33E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717352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2847D7-8565-44F5-BD9A-DA619F54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786FD7E2-29B5-4093-A19C-0B2AE8A9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6E33FEDC-5853-4AB2-9325-87F80262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RAISE STRATEGY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2937F-2A54-4EF9-8816-CB59399A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The P10M pre-seed story should fund proof, not a fully scaled factory narrative.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3CE9F-6408-4C18-8064-728B9173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Keep the existing raise concept, but reframe it around de-risking milestones investors can underwrite.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87788-3AF1-4717-A200-E27131D5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C8B4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C8B4F"/>
                </a:solidFill>
                <a:latin typeface="Georgia"/>
                <a:ea typeface="Georgia"/>
                <a:cs typeface="Georgia"/>
              </a:rPr>
              <a:t>35%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82DF8-1104-470D-BE00-B1886595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81250"/>
            <a:ext cx="5667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C"/>
          </a:solidFill>
          <a:ln xmlns:a="http://schemas.openxmlformats.org/drawingml/2006/main" w="0">
            <a:solidFill>
              <a:srgbClr val="E6DC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DBB7E-0B6F-4D86-922A-23C78294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81250"/>
            <a:ext cx="198358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D3CDB-A836-4A31-AC42-9163BC71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907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Processing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0D902-14B1-4D72-9585-AE79A2C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4792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Drying, milling, packing validation; not overbuilding ahead of POs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F8EA9B-ED63-40D2-8EF4-AA164721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E7C79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2E7C79"/>
                </a:solidFill>
                <a:latin typeface="Georgia"/>
                <a:ea typeface="Georgia"/>
                <a:cs typeface="Georgia"/>
              </a:rPr>
              <a:t>20%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BAE2AD-D713-4269-A584-2B89CD7C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62300"/>
            <a:ext cx="5667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C"/>
          </a:solidFill>
          <a:ln xmlns:a="http://schemas.openxmlformats.org/drawingml/2006/main" w="0">
            <a:solidFill>
              <a:srgbClr val="E6DC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224CD-3B74-4AD2-AAEC-B28EC0F9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62300"/>
            <a:ext cx="11334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0A6A6-5FC5-4E34-A4A7-34C52BDC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718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QA / regulatory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BFEDC7-3A3D-45DB-911C-B31B0E86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2897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Lab tests, HACCP plan, FDA/LTO, importer compliance pack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399C9-632C-4621-ABCB-0D4DBC22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B79A55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B79A55"/>
                </a:solidFill>
                <a:latin typeface="Georgia"/>
                <a:ea typeface="Georgia"/>
                <a:cs typeface="Georgia"/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55E43-B191-43F2-A641-B6C30650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43350"/>
            <a:ext cx="5667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C"/>
          </a:solidFill>
          <a:ln xmlns:a="http://schemas.openxmlformats.org/drawingml/2006/main" w="0">
            <a:solidFill>
              <a:srgbClr val="E6DC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941FA0-29F1-4AB4-83CF-BE3F9EEF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43350"/>
            <a:ext cx="141684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F3A92-BFAA-4279-9AAC-C411EBE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528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Supply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18240-32FB-456A-A049-FF9C3049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1002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Farm contracts, planting material, inventory buffer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27FBC-32B7-478B-A4E3-C969ECF9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910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E3EA2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6E3EA2"/>
                </a:solidFill>
                <a:latin typeface="Georgia"/>
                <a:ea typeface="Georgia"/>
                <a:cs typeface="Georgia"/>
              </a:rPr>
              <a:t>20%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0D0E7-F87C-4C6E-9C2F-AF610BA2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24400"/>
            <a:ext cx="5667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CCC"/>
          </a:solidFill>
          <a:ln xmlns:a="http://schemas.openxmlformats.org/drawingml/2006/main" w="0">
            <a:solidFill>
              <a:srgbClr val="E6DC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52363-DAC3-46A6-A89F-C301BF55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24400"/>
            <a:ext cx="11334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127CAE-DF02-4E05-BB11-F5E56D0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5339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Commercial proof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352A7-831E-487B-85D0-CF331195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791075"/>
            <a:ext cx="2238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Samples, trade buyer outreach, distributor onboarding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75C536-BDF1-4C93-AFDE-65EA2053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19750"/>
            <a:ext cx="928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BB46FF-1A26-427D-8C19-367FEF07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43575"/>
            <a:ext cx="838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Deck fix: move valuation terms after the proof plan. Lead with milestones, not ownership math.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6C4A5-9844-4E87-807C-A7B68F7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1B3693-9574-4CB5-A397-36C5F187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Uses of funds are a recommended restructure of the current Vera P10M proposal, pending final budget and quotations.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B3D8B-BDDA-43BE-B783-2D642783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503430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5F245-12C5-44D7-9344-33EE3402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13-marker">
            <a:extLst xmlns:a="http://schemas.openxmlformats.org/drawingml/2006/main">
              <a:ext uri="{FF2B5EF4-FFF2-40B4-BE49-F238E27FC236}">
                <a16:creationId xmlns:a16="http://schemas.microsoft.com/office/drawing/2014/main" id="{449EDDC1-D70E-493A-9429-6FDFC223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13-label">
            <a:extLst xmlns:a="http://schemas.openxmlformats.org/drawingml/2006/main">
              <a:ext uri="{FF2B5EF4-FFF2-40B4-BE49-F238E27FC236}">
                <a16:creationId xmlns:a16="http://schemas.microsoft.com/office/drawing/2014/main" id="{5E92D4A8-0664-4EB1-A891-F575C9D0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18-MONTH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F29D5-DC7D-4825-8C19-43EE4A60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Milestones should move Vera from idea to investable export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5DF21-5F3E-4828-8FB0-F4C08D05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This sequence gives investors concrete gates before asking them to believe a global scale story.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FE894B-52F5-4778-972F-2CBD5A96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47975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1E13A3-4A7D-4CBC-A20D-A16643B6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3E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800575-7B22-4D61-9B44-EF28EFCB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0-3 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9EB83-5CDF-4DE4-B4BF-396E8FC4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Validate supply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D6E7DD-5365-4E27-8DE0-B4C69F2C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Farm MOUs, varietal map, first lab spec sheets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2B68F-1EA3-4703-9059-C698B701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AAE31-FCC1-4D48-85FF-03DF7629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3-6 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2B9F2-BF4B-4392-95E0-8E9C6C98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90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Pilot powder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AC30B-8EE5-4135-A545-EA87134E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76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Pilot batch, COA, shelf-life, buyer samples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8D3EE-D85E-4E37-8D37-7FDCF972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39D3E4-2053-4638-B86F-B6692506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6-12 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749D93-9F9A-4614-A21D-C9B83E78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90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Certify &amp; sell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7728C3-16E8-4375-A846-660DC563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76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FDA/LTO, HACCP plan, US importer FSVP pack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F40E0-B2F9-4390-9838-A3618F80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7241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93C1E-CC42-4493-98E4-1C58E23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343150"/>
            <a:ext cx="64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12-18 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5F1092-44E7-4A07-BC7D-89D0EE02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90875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11A22"/>
                </a:solidFill>
                <a:latin typeface="Aptos"/>
                <a:ea typeface="Aptos"/>
                <a:cs typeface="Aptos"/>
              </a:rPr>
              <a:t>Scale exports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D077F-B377-443E-BC92-9262A2C1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766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Recurring B2B orders; launch foodservice base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C2DDF-37B3-4DBA-9C84-D4991CE3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578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9C3892-FC6D-40F1-B979-EFFA8DDE6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0200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Next financing 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2F582F-DAB0-4244-84B5-77E9325F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391150"/>
            <a:ext cx="647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B224E"/>
                </a:solidFill>
                <a:latin typeface="Georgia"/>
                <a:ea typeface="Georgia"/>
                <a:cs typeface="Georgia"/>
              </a:defRPr>
            </a:pPr>
            <a:r>
              <a:rPr sz="1163" b="0">
                <a:solidFill>
                  <a:srgbClr val="3B224E"/>
                </a:solidFill>
                <a:latin typeface="Georgia"/>
                <a:ea typeface="Georgia"/>
                <a:cs typeface="Georgia"/>
              </a:rPr>
              <a:t>Raise the next round only after repeat orders, verified gross margin, and enough contracted farm supply to support the next capacity step.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B2B8FE-A783-4790-86E7-5F9AF2C6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51AFD-BB81-4587-B44C-9571E458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DTI via BusinessMirror, Feb 2026; DTI Quirino, May 2024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F19C4-5202-4744-B950-7F59F0C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55520343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5E584-6CB9-4619-B856-43DB38A1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14-marker">
            <a:extLst xmlns:a="http://schemas.openxmlformats.org/drawingml/2006/main">
              <a:ext uri="{FF2B5EF4-FFF2-40B4-BE49-F238E27FC236}">
                <a16:creationId xmlns:a16="http://schemas.microsoft.com/office/drawing/2014/main" id="{6BFCAA8A-7005-409E-932A-A8BAB202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14-label">
            <a:extLst xmlns:a="http://schemas.openxmlformats.org/drawingml/2006/main">
              <a:ext uri="{FF2B5EF4-FFF2-40B4-BE49-F238E27FC236}">
                <a16:creationId xmlns:a16="http://schemas.microsoft.com/office/drawing/2014/main" id="{F823E884-A8E2-4563-A8F4-7B4CEF69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DECK UPGRADE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B27DC-477C-46A6-874C-B74803DB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The current deck has the right heart; the revised deck needs sharper investor discipline.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919E5-E066-4FED-ABC5-C4C2D34C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Keep the farmer mission and authenticity. Remove what causes diligence drag.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C795C-05B4-421B-BC21-66EA88B0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286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6326F-BC3C-4C5D-AC8C-6BA54A7B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28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39530-6765-4F13-9363-02621484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90800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C8B4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6C8B4F"/>
                </a:solidFill>
                <a:latin typeface="Georgia"/>
                <a:ea typeface="Georgia"/>
                <a:cs typeface="Georgia"/>
              </a:rPr>
              <a:t>Keep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365AC-9B26-4C1C-9BAF-83E748B6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43B4FF-8FF8-4ACA-B92D-E01A3202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Global demand and Philippine origin are compelling.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153459-1AFB-4664-A5F2-B34A02FC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528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A84AB-1179-4231-9999-AF8DE94D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9570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Farmer upside and supply security belong in the core 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D226C-9477-4705-981E-4E24826F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05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6C8B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4D1B0-82E2-4CD1-9CC7-DD05AD45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Traceability and quality can be a real differentiator.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6D239-49DA-42CF-8809-6A3BE2F0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4286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93A02-4D4D-46A4-9745-45EF0AE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66950"/>
            <a:ext cx="4286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E838F6-9B5D-4174-862F-EF468F47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8643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B8643F"/>
                </a:solidFill>
                <a:latin typeface="Georgia"/>
                <a:ea typeface="Georgia"/>
                <a:cs typeface="Georgia"/>
              </a:rPr>
              <a:t>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35512-436C-4F0B-B75B-EA7C22CC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62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62AC00-5F0C-4792-9997-3589AA30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De-emphasize medical/superfood claims.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A3A47-E182-4A99-A38B-D44EE49E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21075-F06C-40F2-A702-EAA57330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623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Stop leading with VCO; make it a future extension.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4A143-FA44-42CC-B092-3C25542B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76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2EA65F-1953-4FF0-A73C-6D33B1F3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195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Replace unsupported forecast jumps with staged scenarios.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CEA36-7375-4DE0-BED0-568EA8EC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33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43F"/>
          </a:solidFill>
          <a:ln xmlns:a="http://schemas.openxmlformats.org/drawingml/2006/main" w="0">
            <a:solidFill>
              <a:srgbClr val="B8643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BA754D-B405-475B-AC3C-6CDAE71D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476750"/>
            <a:ext cx="3257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Add buyer personas, compliance pathway and data-room checklist.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53CDD6-6853-4068-B590-14D3336D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A38A0D-5359-4722-9AA4-50F95811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Reference audit based on vera compressed.pdf and source PPTX present in workspace.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3D1209-5C65-49C6-9766-DB9982DD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7096729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753CB-9EEF-45A5-9A3C-D93FFA06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  <a:prstDash val="solid"/>
          </a:ln>
        </p:spPr>
      </p:sp>
      <p:sp>
        <p:nvSpPr>
          <p:cNvPr id="2" name="kicker-15-marker">
            <a:extLst xmlns:a="http://schemas.openxmlformats.org/drawingml/2006/main">
              <a:ext uri="{FF2B5EF4-FFF2-40B4-BE49-F238E27FC236}">
                <a16:creationId xmlns:a16="http://schemas.microsoft.com/office/drawing/2014/main" id="{C484D671-C1A6-4071-959D-CD57B9C5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15-label">
            <a:extLst xmlns:a="http://schemas.openxmlformats.org/drawingml/2006/main">
              <a:ext uri="{FF2B5EF4-FFF2-40B4-BE49-F238E27FC236}">
                <a16:creationId xmlns:a16="http://schemas.microsoft.com/office/drawing/2014/main" id="{B7B2B2CC-B9D3-4AFA-8048-66E40965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INVESTOR PROOF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DA0D2-5CE6-4D80-A149-F4336759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7810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11A22"/>
                </a:solidFill>
                <a:latin typeface="Georgia"/>
                <a:ea typeface="Georgia"/>
                <a:cs typeface="Georgia"/>
              </a:defRPr>
            </a:pPr>
            <a:r>
              <a:rPr sz="2325" b="0">
                <a:solidFill>
                  <a:srgbClr val="211A22"/>
                </a:solidFill>
                <a:latin typeface="Georgia"/>
                <a:ea typeface="Georgia"/>
                <a:cs typeface="Georgia"/>
              </a:rPr>
              <a:t>The next version should come with a short data room that proves Vera can execute.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DBDB8-1F32-4907-8CB8-8C094D7A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47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D64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D6470"/>
                </a:solidFill>
                <a:latin typeface="Aptos"/>
                <a:ea typeface="Aptos"/>
                <a:cs typeface="Aptos"/>
              </a:rPr>
              <a:t>These are the questions serious investors and B2B buyers will ask first.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34206-27AF-4778-9B2A-CAABEAB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1C993-E8A2-4B61-9410-DF5EA72D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764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C8B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C8B4F"/>
                </a:solidFill>
                <a:latin typeface="Aptos"/>
                <a:ea typeface="Aptos"/>
                <a:cs typeface="Aptos"/>
              </a:rPr>
              <a:t>Supply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30400-1B5F-4573-B2EA-D9492198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574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Farm list, hectares, varieties, seasonality, committed kg, floor-price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E822D-231B-417B-AB7B-D424E469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955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741AEC-A33F-4837-A863-6F6E4514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764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C7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E7C79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103D0-6BC7-401A-B780-CAFDFF41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574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Spec sheet, COA, shelf-life, packaging, moisture and micro targets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D98C1B-B0F7-49C5-8A6A-0C45FB4C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EDD776-E635-4017-8CAB-D122042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432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Economics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6974F-4E18-47C3-BF40-6C396844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242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Fresh-to-powder yield, processing cost, landed cost, target wholesale price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2DA27-649F-4BC2-828C-0963F85C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623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204998-E5E5-4136-9B0D-7BAE8DD6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432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E3EA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E3EA2"/>
                </a:solidFill>
                <a:latin typeface="Aptos"/>
                <a:ea typeface="Aptos"/>
                <a:cs typeface="Aptos"/>
              </a:rPr>
              <a:t>Commercial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F368C8-20E6-43DF-A333-486046E9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242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Buyer conversations, paid samples, LOIs, distributor terms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BBC62-A7AA-4912-A578-7D74D457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D7509-4879-4B44-B938-99978B3EF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100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698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6982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D6E073-CDDC-4CBB-8BC9-26BCE8A0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910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FDA/LTO, HACCP plan, FSVP pack, EU/GCC label templates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FC264-6B0B-4521-A690-395CE047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29100"/>
            <a:ext cx="43338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8CC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3DEDE-74CB-4781-B367-51B5F4CF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0075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643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43F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8829B-9FCF-41C3-8545-4FB06E62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391025"/>
            <a:ext cx="2590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2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211A22"/>
                </a:solidFill>
                <a:latin typeface="Aptos"/>
                <a:ea typeface="Aptos"/>
                <a:cs typeface="Aptos"/>
              </a:rPr>
              <a:t>Farmer income baseline, premium paid, cooperative/community fund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33E56C-B449-456F-958C-19F788F2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D8CC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CC68D6-0163-432D-9C44-6576F47A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F7480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7F7480"/>
                </a:solidFill>
                <a:latin typeface="Aptos"/>
                <a:ea typeface="Aptos"/>
                <a:cs typeface="Aptos"/>
              </a:rPr>
              <a:t>FDA, USDA APHIS, European Commission, Your Europe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8BE51E-D7ED-4A0C-962F-01846F70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246699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C612DA-64AD-4615-8F63-DA91E20A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192A"/>
          </a:solidFill>
          <a:ln xmlns:a="http://schemas.openxmlformats.org/drawingml/2006/main" w="0">
            <a:solidFill>
              <a:srgbClr val="22192A"/>
            </a:solidFill>
            <a:prstDash val="solid"/>
          </a:ln>
        </p:spPr>
      </p:sp>
      <p:sp>
        <p:nvSpPr>
          <p:cNvPr id="2" name="kicker-16-marker">
            <a:extLst xmlns:a="http://schemas.openxmlformats.org/drawingml/2006/main">
              <a:ext uri="{FF2B5EF4-FFF2-40B4-BE49-F238E27FC236}">
                <a16:creationId xmlns:a16="http://schemas.microsoft.com/office/drawing/2014/main" id="{1F3BE33C-C5E8-4B1F-B853-41EE95BE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B79A55"/>
            </a:solidFill>
            <a:prstDash val="solid"/>
          </a:ln>
        </p:spPr>
      </p:sp>
      <p:sp>
        <p:nvSpPr>
          <p:cNvPr id="3" name="kicker-16-label">
            <a:extLst xmlns:a="http://schemas.openxmlformats.org/drawingml/2006/main">
              <a:ext uri="{FF2B5EF4-FFF2-40B4-BE49-F238E27FC236}">
                <a16:creationId xmlns:a16="http://schemas.microsoft.com/office/drawing/2014/main" id="{5985524B-BD63-4671-ABC3-FE2FABA3E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B224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B224E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F5C6B-8EC5-43C6-A39D-E9E40940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Research Notes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A9696F-7B9E-4B3A-AA12-BC3485D7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858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6CB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6CBD8"/>
                </a:solidFill>
                <a:latin typeface="Aptos"/>
                <a:ea typeface="Aptos"/>
                <a:cs typeface="Aptos"/>
              </a:rPr>
              <a:t>Use these as the source spine for a diligence-ready investor deck. Detailed quotations should be refreshed before investor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34B46-49BD-439B-8646-0249B907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81B64-1FCD-4300-9567-6AFBD925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DTI via BusinessMirror, Feb 23 2026: $3.06M 2025 ube exports; key markets US, UK, Italy, Middle East; 359 GNPD launches.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3335C-421C-4B5F-9A00-33AC5FC2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7A5C9E-C83B-4174-8352-2B1540A5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860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DTI Quirino, May 24 2024: JaBes ube powder made third Japan shipment; export-ready work included packaging, labeling, certification and sensory/process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E3846-BF64-4D5F-9BF4-7A4970B4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18768-FD89-434A-ACA7-00FB598E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Transparency Market Research: global ube market estimate $455.3M in 2024, forecast $943.6M by 2035; processed formats more attractive to industrial users.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D58888-434D-432F-BD94-21A0DE32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F47ED-62F5-43DE-9418-9F3514B1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670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Starbucks Stories US/EMEA, Mar 2026: ube coconut macchiato and EMEA Ube Vanilla range indicate mainstream beverage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3A8A8B-7306-4153-9ED1-70D24458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66931C-44FE-43A6-B8B0-47495051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576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FDA: imported human foods require prior notice; foreign food facility registration; FSVP verification by importers; no pre-approval of products/labels.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BB990-0F2D-4702-AFE9-5CE34B00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5697A-CF48-4601-BC9E-A2F0E216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USDA APHIS: dried/cooked/processed fruits and vegetables are generally admissible without APHIS permit or phytosanitary certificate, subject to inspection.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A5F8D-D980-4F43-98AE-F44931C0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8627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C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36C003-9359-4686-A513-B64A8835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FDA LACF/AF: shelf-stable acidified/low-acid foods in hermetically sealed containers require establishment registration and scheduled processes.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3E8D86-1B6B-42F4-8BCE-1D4DC46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9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9832E0-7374-424B-87CF-1814945D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2917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European Commission / Your Europe: EU import controls, traceability, mandatory prepacked food labeling and food safety obligations.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F3D56-FE46-4713-A183-90DA7978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9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1E62B-9C4C-4AA2-82E5-5F1A5C4C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Grand View Research: VCO is a large existing market; anthocyanin food colors are a separate natural-color opportunity.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5104D9-3F2D-4365-A45B-87F7EE2C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8B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B2528-4C4F-4A27-A9C7-98D0B034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0225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F1EAF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F1EAF2"/>
                </a:solidFill>
                <a:latin typeface="Aptos"/>
                <a:ea typeface="Aptos"/>
                <a:cs typeface="Aptos"/>
              </a:rPr>
              <a:t>Purple-yam anthocyanin research: anthocyanins drive color but have lipophilic-system solubility/stability constraints, weakening an ube-oil flagship story.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94AB3C-3C18-490E-A5A1-54ADB986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5773"/>
          </a:solidFill>
          <a:ln xmlns:a="http://schemas.openxmlformats.org/drawingml/2006/main" w="0">
            <a:solidFill>
              <a:srgbClr val="6A577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BF7DBD-A32C-4F1D-A44A-B52C4E1E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D6CBD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D6CBD8"/>
                </a:solidFill>
                <a:latin typeface="Aptos"/>
                <a:ea typeface="Aptos"/>
                <a:cs typeface="Aptos"/>
              </a:rPr>
              <a:t>Vera Heritage | Flagship product deep dive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8C2368-B1E7-4160-8AEB-C90EABBC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5532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B79A5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79A55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406393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2026-05-04T04:35:55.1780000Z</dcterms:created>
  <dcterms:modified xsi:type="dcterms:W3CDTF">2026-05-04T04:35:55.1780000Z</dcterms:modified>
</coreProperties>
</file>